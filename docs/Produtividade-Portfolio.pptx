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82f5b892c78498b" /><Relationship Type="http://schemas.openxmlformats.org/officeDocument/2006/relationships/extended-properties" Target="/docProps/app.xml" Id="R2f5f1c40171748cc" /><Relationship Type="http://schemas.openxmlformats.org/officeDocument/2006/relationships/officeDocument" Target="/ppt/presentation.xml" Id="R04bf02ee429f4bdf" /></Relationships>
</file>

<file path=ppt/presentation.xml><?xml version="1.0" encoding="utf-8"?>
<p:presentation xmlns:p="http://schemas.openxmlformats.org/presentationml/2006/main">
  <p:sldMasterIdLst>
    <p:sldMasterId xmlns:r="http://schemas.openxmlformats.org/officeDocument/2006/relationships" id="2147483648" r:id="R677e641b667d4b28"/>
  </p:sldMasterIdLst>
  <p:notesMasterIdLst>
    <p:notesMasterId xmlns:r="http://schemas.openxmlformats.org/officeDocument/2006/relationships" r:id="R7ec59d883b83433a"/>
  </p:notesMasterIdLst>
  <p:sldIdLst>
    <p:sldId xmlns:r="http://schemas.openxmlformats.org/officeDocument/2006/relationships" id="256" r:id="Rdcf5a440c2b74a19"/>
    <p:sldId xmlns:r="http://schemas.openxmlformats.org/officeDocument/2006/relationships" id="257" r:id="R753bcd6aa76c4f4c"/>
    <p:sldId xmlns:r="http://schemas.openxmlformats.org/officeDocument/2006/relationships" id="258" r:id="R439fc899693f49b8"/>
    <p:sldId xmlns:r="http://schemas.openxmlformats.org/officeDocument/2006/relationships" id="259" r:id="Rec7ea84eb9e14ab3"/>
    <p:sldId xmlns:r="http://schemas.openxmlformats.org/officeDocument/2006/relationships" id="260" r:id="R5d951f38313140c2"/>
    <p:sldId xmlns:r="http://schemas.openxmlformats.org/officeDocument/2006/relationships" id="261" r:id="R6fdc3d0a59b54778"/>
    <p:sldId xmlns:r="http://schemas.openxmlformats.org/officeDocument/2006/relationships" id="262" r:id="Rf2aa39c1afb649f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f768290d63c494c" /><Relationship Type="http://schemas.openxmlformats.org/officeDocument/2006/relationships/slideMaster" Target="/ppt/slideMasters/slideMaster1.xml" Id="R677e641b667d4b28" /><Relationship Type="http://schemas.openxmlformats.org/officeDocument/2006/relationships/notesMaster" Target="/ppt/notesMasters/notesMaster1.xml" Id="R7ec59d883b83433a" /><Relationship Type="http://schemas.openxmlformats.org/officeDocument/2006/relationships/presProps" Target="/ppt/presProps.xml" Id="R01fc2af52b874e57" /><Relationship Type="http://schemas.openxmlformats.org/officeDocument/2006/relationships/tableStyles" Target="/ppt/tableStyles.xml" Id="Re645f8b254c245ab" /><Relationship Type="http://schemas.openxmlformats.org/officeDocument/2006/relationships/slide" Target="/ppt/slides/slide1.xml" Id="Rdcf5a440c2b74a19" /><Relationship Type="http://schemas.openxmlformats.org/officeDocument/2006/relationships/slide" Target="/ppt/slides/slide2.xml" Id="R753bcd6aa76c4f4c" /><Relationship Type="http://schemas.openxmlformats.org/officeDocument/2006/relationships/slide" Target="/ppt/slides/slide3.xml" Id="R439fc899693f49b8" /><Relationship Type="http://schemas.openxmlformats.org/officeDocument/2006/relationships/slide" Target="/ppt/slides/slide4.xml" Id="Rec7ea84eb9e14ab3" /><Relationship Type="http://schemas.openxmlformats.org/officeDocument/2006/relationships/slide" Target="/ppt/slides/slide5.xml" Id="R5d951f38313140c2" /><Relationship Type="http://schemas.openxmlformats.org/officeDocument/2006/relationships/slide" Target="/ppt/slides/slide6.xml" Id="R6fdc3d0a59b54778" /><Relationship Type="http://schemas.openxmlformats.org/officeDocument/2006/relationships/slide" Target="/ppt/slides/slide7.xml" Id="Rf2aa39c1afb649f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34f8a9b69a54f8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05200d2b1a84058" /><Relationship Type="http://schemas.openxmlformats.org/officeDocument/2006/relationships/notesMaster" Target="/ppt/notesMasters/notesMaster1.xml" Id="Rcf64dd275ebe462e" /></Relationships>
</file>

<file path=ppt/notesSlides/_rels/notesSlide2.xml.rels>&#65279;<?xml version="1.0" encoding="utf-8"?><Relationships xmlns="http://schemas.openxmlformats.org/package/2006/relationships"><Relationship Type="http://schemas.openxmlformats.org/officeDocument/2006/relationships/slide" Target="/ppt/slides/slide2.xml" Id="Rdde17434819346c7" /><Relationship Type="http://schemas.openxmlformats.org/officeDocument/2006/relationships/notesMaster" Target="/ppt/notesMasters/notesMaster1.xml" Id="Rc670a4dfeda24907" /></Relationships>
</file>

<file path=ppt/notesSlides/_rels/notesSlide3.xml.rels>&#65279;<?xml version="1.0" encoding="utf-8"?><Relationships xmlns="http://schemas.openxmlformats.org/package/2006/relationships"><Relationship Type="http://schemas.openxmlformats.org/officeDocument/2006/relationships/slide" Target="/ppt/slides/slide3.xml" Id="R338e698d6df64032" /><Relationship Type="http://schemas.openxmlformats.org/officeDocument/2006/relationships/notesMaster" Target="/ppt/notesMasters/notesMaster1.xml" Id="R2caf283f3c9f41dc" /></Relationships>
</file>

<file path=ppt/notesSlides/_rels/notesSlide4.xml.rels>&#65279;<?xml version="1.0" encoding="utf-8"?><Relationships xmlns="http://schemas.openxmlformats.org/package/2006/relationships"><Relationship Type="http://schemas.openxmlformats.org/officeDocument/2006/relationships/slide" Target="/ppt/slides/slide4.xml" Id="R9c28999440b441be" /><Relationship Type="http://schemas.openxmlformats.org/officeDocument/2006/relationships/notesMaster" Target="/ppt/notesMasters/notesMaster1.xml" Id="Rec27aafebd664b8c" /></Relationships>
</file>

<file path=ppt/notesSlides/_rels/notesSlide5.xml.rels>&#65279;<?xml version="1.0" encoding="utf-8"?><Relationships xmlns="http://schemas.openxmlformats.org/package/2006/relationships"><Relationship Type="http://schemas.openxmlformats.org/officeDocument/2006/relationships/slide" Target="/ppt/slides/slide5.xml" Id="Re68f28941a1541e2" /><Relationship Type="http://schemas.openxmlformats.org/officeDocument/2006/relationships/notesMaster" Target="/ppt/notesMasters/notesMaster1.xml" Id="Rbb4d6676337d485f" /></Relationships>
</file>

<file path=ppt/notesSlides/_rels/notesSlide6.xml.rels>&#65279;<?xml version="1.0" encoding="utf-8"?><Relationships xmlns="http://schemas.openxmlformats.org/package/2006/relationships"><Relationship Type="http://schemas.openxmlformats.org/officeDocument/2006/relationships/slide" Target="/ppt/slides/slide6.xml" Id="Rc25b697420594ea0" /><Relationship Type="http://schemas.openxmlformats.org/officeDocument/2006/relationships/notesMaster" Target="/ppt/notesMasters/notesMaster1.xml" Id="R6d44067e30f74119" /></Relationships>
</file>

<file path=ppt/notesSlides/_rels/notesSlide7.xml.rels>&#65279;<?xml version="1.0" encoding="utf-8"?><Relationships xmlns="http://schemas.openxmlformats.org/package/2006/relationships"><Relationship Type="http://schemas.openxmlformats.org/officeDocument/2006/relationships/slide" Target="/ppt/slides/slide7.xml" Id="R3357ff63dce148c5" /><Relationship Type="http://schemas.openxmlformats.org/officeDocument/2006/relationships/notesMaster" Target="/ppt/notesMasters/notesMaster1.xml" Id="Rc960621d4c8449d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Apresentação de um projeto demonstrativo. Não apresentar os números como resultados de uma empresa. Descrever a contribuição profissional anterior somente após confirmar as partes efetivamente desenvolvidas.</a:t>
            </a:r>
          </a:p>
          <a:p xmlns:a="http://schemas.openxmlformats.org/drawingml/2006/main">
            <a:r>
              <a:t>Fonte: reports/metrics.json e docs/metricas.md, gerador original seed 42. Nenhum dado ou código empresarial foi usado.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Problema e organização fictícios. O case demonstra a distinção entre população, custo e observabilidade. Atividade digital não mede valor entregue nem desempenho individual.</a:t>
            </a:r>
          </a:p>
          <a:p xmlns:a="http://schemas.openxmlformats.org/drawingml/2006/main">
            <a:r>
              <a:t>Fonte: reports/metrics.json e docs/metricas.md, gerador original seed 42. Nenhum dado ou código empresarial foi usado.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 ETL valida o contrato, aplica versões por updated_at e registra SHA-256 de cada lote na mesma transação. O cadastro é retrospectivo com estado conhecido em julho. Em produção faltam CDC real, histórico tipo 2 e orquestração.</a:t>
            </a:r>
          </a:p>
          <a:p xmlns:a="http://schemas.openxmlformats.org/drawingml/2006/main">
            <a:r>
              <a:t>Fonte: reports/metrics.json e docs/metricas.md, gerador original seed 42. Nenhum dado ou código empresarial foi usado.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abertura de janeiro é 210. Headcount final de janeiro é 209. Folha de junho exata: R$ 1.354.430,01. Headcount usa o último dia do mês e não deve ser somado entre meses. Valores simulados, sem alegação de economia real.</a:t>
            </a:r>
          </a:p>
          <a:p xmlns:a="http://schemas.openxmlformats.org/drawingml/2006/main">
            <a:r>
              <a:t>Fonte: reports/metrics.json e docs/metricas.md, gerador original seed 42. Nenhum dado ou código empresarial foi usado.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Cobertura de mapeamento é mapeados / pessoas com vínculo em parte do mês. O gráfico mostra percentuais em escala 0 a 100. Diferença exata 23,0822 pontos percentuais, arredondada a 23,1. Não usar headcount final no denominador.</a:t>
            </a:r>
          </a:p>
          <a:p xmlns:a="http://schemas.openxmlformats.org/drawingml/2006/main">
            <a:r>
              <a:t>Fonte: reports/metrics.json e docs/metricas.md, gerador original seed 42. Nenhum dado ou código empresarial foi usado.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Os denominadores diferem. Cobertura de coleta = 1.693.745 / 2.061.120 minutos. Atividade observada = 1.157.048 / 1.693.745 minutos. A decisão é pedagógica e não causal. Não há avaliação de empregados reais.</a:t>
            </a:r>
          </a:p>
          <a:p xmlns:a="http://schemas.openxmlformats.org/drawingml/2006/main">
            <a:r>
              <a:t>Fonte: reports/metrics.json e docs/metricas.md, gerador original seed 42. Nenhum dado ou código empresarial foi usado.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Oito testes locais SQLite passaram. Integração PostgreSQL incluída, ainda não executada localmente. Workflow CI só estará validado após execução no GitHub. Este material não inclui PBIX pronto nem valida autoria de relatórios profissionais anteriores.</a:t>
            </a:r>
          </a:p>
          <a:p xmlns:a="http://schemas.openxmlformats.org/drawingml/2006/main">
            <a:r>
              <a:t>Fonte: reports/metrics.json e docs/metricas.md, gerador original seed 42. Nenhum dado ou código empresarial foi usado.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d7e4e9392fa4b0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c912fde1556408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35fc719e9f245e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6f4c7e01880411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17c175ab6f34f8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76d0d860b6c462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1EDC6BB-E782-431A-B582-ED8906AAFCB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4E4D285-CDF6-4FDA-8013-826F151696D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FAA3E89-3711-4E4D-9BB7-1C12D1F50E1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D998B0D-5601-45D2-83FA-8A9195A2C93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A107541-C7A6-47E2-9021-5029BA7DC13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2AAFA90-F15B-46FE-9C10-DAEE6A5A135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F411D7A-F0E9-4A7F-B333-D4B1A8CF24D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22E518D-4428-4C0B-94E8-F4A0F89CE45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6AA6E1E-C65A-4DE9-83AE-4B9CDB64713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960B6DE-F50D-40CB-B7A4-DCE3D2F2E28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16c5410030b46be" /><Relationship Type="http://schemas.openxmlformats.org/officeDocument/2006/relationships/slideLayout" Target="/ppt/slideLayouts/slideLayout1.xml" Id="R95800d809bdc499b" /><Relationship Type="http://schemas.openxmlformats.org/officeDocument/2006/relationships/slideLayout" Target="/ppt/slideLayouts/slideLayout2.xml" Id="R9cce5876ad294948" /><Relationship Type="http://schemas.openxmlformats.org/officeDocument/2006/relationships/slideLayout" Target="/ppt/slideLayouts/slideLayout3.xml" Id="R257e4693a3e743a6" /><Relationship Type="http://schemas.openxmlformats.org/officeDocument/2006/relationships/slideLayout" Target="/ppt/slideLayouts/slideLayout4.xml" Id="R511664b72dc14d31" /><Relationship Type="http://schemas.openxmlformats.org/officeDocument/2006/relationships/slideLayout" Target="/ppt/slideLayouts/slideLayout5.xml" Id="R9f909bfcbbd94e74" /><Relationship Type="http://schemas.openxmlformats.org/officeDocument/2006/relationships/slideLayout" Target="/ppt/slideLayouts/slideLayout6.xml" Id="R3609850f1196428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5800d809bdc499b"/>
    <p:sldLayoutId xmlns:r="http://schemas.openxmlformats.org/officeDocument/2006/relationships" id="2147483650" r:id="R9cce5876ad294948"/>
    <p:sldLayoutId xmlns:r="http://schemas.openxmlformats.org/officeDocument/2006/relationships" id="2147483651" r:id="R257e4693a3e743a6"/>
    <p:sldLayoutId xmlns:r="http://schemas.openxmlformats.org/officeDocument/2006/relationships" id="2147483652" r:id="R511664b72dc14d31"/>
    <p:sldLayoutId xmlns:r="http://schemas.openxmlformats.org/officeDocument/2006/relationships" id="2147483653" r:id="R9f909bfcbbd94e74"/>
    <p:sldLayoutId xmlns:r="http://schemas.openxmlformats.org/officeDocument/2006/relationships" id="2147483654" r:id="R3609850f1196428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1cbc21b07424cfe" /><Relationship Type="http://schemas.openxmlformats.org/officeDocument/2006/relationships/notesSlide" Target="/ppt/notesSlides/notesSlide1.xml" Id="R56bf06e7ee3e419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f121fb772184ec7" /><Relationship Type="http://schemas.openxmlformats.org/officeDocument/2006/relationships/notesSlide" Target="/ppt/notesSlides/notesSlide2.xml" Id="Rb9f1ef02feba4f9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d2fe31e580c49fb" /><Relationship Type="http://schemas.openxmlformats.org/officeDocument/2006/relationships/notesSlide" Target="/ppt/notesSlides/notesSlide3.xml" Id="R6a6e326926b9460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aab143ea64d496d" /><Relationship Type="http://schemas.openxmlformats.org/officeDocument/2006/relationships/chart" Target="/ppt/slides/charts/chart1.xml" Id="R1775c1274cb24e1c" /><Relationship Type="http://schemas.openxmlformats.org/officeDocument/2006/relationships/notesSlide" Target="/ppt/notesSlides/notesSlide4.xml" Id="R483aca8a2d864d4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65a1059939c486c" /><Relationship Type="http://schemas.openxmlformats.org/officeDocument/2006/relationships/chart" Target="/ppt/slides/charts/chart2.xml" Id="Rd528c4730b0e4c8e" /><Relationship Type="http://schemas.openxmlformats.org/officeDocument/2006/relationships/notesSlide" Target="/ppt/notesSlides/notesSlide5.xml" Id="Re70cda8e9300422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6cbf971b49d4cc0" /><Relationship Type="http://schemas.openxmlformats.org/officeDocument/2006/relationships/notesSlide" Target="/ppt/notesSlides/notesSlide6.xml" Id="Rd64b01c8a217421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5e7abe8cd064b9d" /><Relationship Type="http://schemas.openxmlformats.org/officeDocument/2006/relationships/notesSlide" Target="/ppt/notesSlides/notesSlide7.xml" Id="R87bea38a2721453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Pessoas ativas no fim do mês</c:v>
          </c:tx>
          <c:spPr>
            <a:solidFill xmlns:a="http://schemas.openxmlformats.org/drawingml/2006/main">
              <a:srgbClr val="157868"/>
            </a:solidFill>
          </c:spPr>
          <c:invertIfNegative val="0"/>
          <c:cat>
            <c:strRef>
              <c:f>'Chart Data'!$A$2:$A$7</c:f>
              <c:strCache>
                <c:ptCount val="6"/>
                <c:pt idx="0">
                  <c:v>Jan</c:v>
                </c:pt>
                <c:pt idx="1">
                  <c:v>Fev</c:v>
                </c:pt>
                <c:pt idx="2">
                  <c:v>Mar</c:v>
                </c:pt>
                <c:pt idx="3">
                  <c:v>Abr</c:v>
                </c:pt>
                <c:pt idx="4">
                  <c:v>Mai</c:v>
                </c:pt>
                <c:pt idx="5">
                  <c:v>Jun</c:v>
                </c:pt>
              </c:strCache>
            </c:strRef>
          </c:cat>
          <c:val>
            <c:numRef>
              <c:f>'Chart Data'!$B$2:$B$7</c:f>
              <c:numCache>
                <c:formatCode>General</c:formatCode>
                <c:ptCount val="6"/>
                <c:pt idx="0">
                  <c:v>209</c:v>
                </c:pt>
                <c:pt idx="1">
                  <c:v>208</c:v>
                </c:pt>
                <c:pt idx="2">
                  <c:v>207</c:v>
                </c:pt>
                <c:pt idx="3">
                  <c:v>206</c:v>
                </c:pt>
                <c:pt idx="4">
                  <c:v>205</c:v>
                </c:pt>
                <c:pt idx="5">
                  <c:v>204</c:v>
                </c:pt>
              </c:numCache>
            </c:numRef>
          </c:val>
        </c:ser>
        <c:dLbls>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72768"/>
      </c:catAx>
      <c:valAx>
        <c:axId val="48672768"/>
        <c:scaling>
          <c:orientation val="minMax"/>
          <c:max val="250"/>
          <c:min val="0"/>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Cobertura de mapeamento (%)</c:v>
          </c:tx>
          <c:spPr>
            <a:solidFill xmlns:a="http://schemas.openxmlformats.org/drawingml/2006/main">
              <a:srgbClr val="157868"/>
            </a:solidFill>
          </c:spPr>
          <c:invertIfNegative val="0"/>
          <c:cat>
            <c:strRef>
              <c:f>'Chart Data'!$A$2:$A$7</c:f>
              <c:strCache>
                <c:ptCount val="6"/>
                <c:pt idx="0">
                  <c:v>Jan</c:v>
                </c:pt>
                <c:pt idx="1">
                  <c:v>Fev</c:v>
                </c:pt>
                <c:pt idx="2">
                  <c:v>Mar</c:v>
                </c:pt>
                <c:pt idx="3">
                  <c:v>Abr</c:v>
                </c:pt>
                <c:pt idx="4">
                  <c:v>Mai</c:v>
                </c:pt>
                <c:pt idx="5">
                  <c:v>Jun</c:v>
                </c:pt>
              </c:strCache>
            </c:strRef>
          </c:cat>
          <c:val>
            <c:numRef>
              <c:f>'Chart Data'!$B$2:$B$7</c:f>
              <c:numCache>
                <c:formatCode>General</c:formatCode>
                <c:ptCount val="6"/>
                <c:pt idx="0">
                  <c:v>70.7</c:v>
                </c:pt>
                <c:pt idx="1">
                  <c:v>75.1</c:v>
                </c:pt>
                <c:pt idx="2">
                  <c:v>77.5</c:v>
                </c:pt>
                <c:pt idx="3">
                  <c:v>85.8</c:v>
                </c:pt>
                <c:pt idx="4">
                  <c:v>88.2</c:v>
                </c:pt>
                <c:pt idx="5">
                  <c:v>93.8</c:v>
                </c:pt>
              </c:numCache>
            </c:numRef>
          </c:val>
        </c:ser>
        <c:dLbls>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72768"/>
      </c:catAx>
      <c:valAx>
        <c:axId val="48672768"/>
        <c:scaling>
          <c:orientation val="minMax"/>
          <c:max val="100"/>
          <c:min val="0"/>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12F3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AF54CC2-2D6B-4A14-9E18-01BC5E73259D}"/>
              </a:ext>
            </a:extLst>
          </p:cNvPr>
          <p:cNvSpPr>
            <a:spLocks xmlns:a="http://schemas.openxmlformats.org/drawingml/2006/main" noGrp="1"/>
          </p:cNvSpPr>
          <p:nvPr/>
        </p:nvSpPr>
        <p:spPr>
          <a:xfrm xmlns:a="http://schemas.openxmlformats.org/drawingml/2006/main">
            <a:off x="609600" y="3619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1">
                <a:solidFill>
                  <a:srgbClr val="D6F173"/>
                </a:solidFill>
                <a:latin typeface="Arial"/>
                <a:ea typeface="Arial"/>
                <a:cs typeface="Arial"/>
              </a:defRPr>
            </a:defPPr>
          </a:lstStyle>
          <a:p xmlns:a="http://schemas.openxmlformats.org/drawingml/2006/main">
            <a:pPr>
              <a:defRPr sz="1200" b="1">
                <a:solidFill>
                  <a:srgbClr val="D6F173"/>
                </a:solidFill>
                <a:latin typeface="Arial"/>
                <a:ea typeface="Arial"/>
                <a:cs typeface="Arial"/>
              </a:defRPr>
            </a:pPr>
            <a:r>
              <a:rPr sz="1200" b="1">
                <a:solidFill>
                  <a:srgbClr val="D6F173"/>
                </a:solidFill>
                <a:latin typeface="Arial"/>
                <a:ea typeface="Arial"/>
                <a:cs typeface="Arial"/>
              </a:rPr>
              <a:t>PORTFÓLIO DE ANÁLISE DE DADOS</a:t>
            </a:r>
          </a:p>
        </p:txBody>
      </p:sp>
      <p:sp>
        <p:nvSpPr>
          <p:cNvPr id="2" name="">
            <a:extLst xmlns:a="http://schemas.openxmlformats.org/drawingml/2006/main">
              <a:ext uri="{FF2B5EF4-FFF2-40B4-BE49-F238E27FC236}">
                <a16:creationId xmlns:a16="http://schemas.microsoft.com/office/drawing/2014/main" id="{ECC5A3DD-117B-4D0C-A513-3B2804BD3750}"/>
              </a:ext>
            </a:extLst>
          </p:cNvPr>
          <p:cNvSpPr>
            <a:spLocks xmlns:a="http://schemas.openxmlformats.org/drawingml/2006/main" noGrp="1"/>
          </p:cNvSpPr>
          <p:nvPr/>
        </p:nvSpPr>
        <p:spPr>
          <a:xfrm xmlns:a="http://schemas.openxmlformats.org/drawingml/2006/main">
            <a:off x="609600" y="914400"/>
            <a:ext cx="10858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450" b="1">
                <a:solidFill>
                  <a:srgbClr val="FFFFFF"/>
                </a:solidFill>
                <a:latin typeface="Arial"/>
                <a:ea typeface="Arial"/>
                <a:cs typeface="Arial"/>
              </a:defRPr>
            </a:defPPr>
          </a:lstStyle>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Produtividade</a:t>
            </a:r>
          </a:p>
        </p:txBody>
      </p:sp>
      <p:sp>
        <p:nvSpPr>
          <p:cNvPr id="3" name="">
            <a:extLst xmlns:a="http://schemas.openxmlformats.org/drawingml/2006/main">
              <a:ext uri="{FF2B5EF4-FFF2-40B4-BE49-F238E27FC236}">
                <a16:creationId xmlns:a16="http://schemas.microsoft.com/office/drawing/2014/main" id="{8B309196-AD08-4DFC-9EA4-F6F9A9DC5539}"/>
              </a:ext>
            </a:extLst>
          </p:cNvPr>
          <p:cNvSpPr>
            <a:spLocks xmlns:a="http://schemas.openxmlformats.org/drawingml/2006/main" noGrp="1"/>
          </p:cNvSpPr>
          <p:nvPr/>
        </p:nvSpPr>
        <p:spPr>
          <a:xfrm xmlns:a="http://schemas.openxmlformats.org/drawingml/2006/main">
            <a:off x="609600" y="63817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D0DCDE"/>
                </a:solidFill>
                <a:latin typeface="Arial"/>
                <a:ea typeface="Arial"/>
                <a:cs typeface="Arial"/>
              </a:defRPr>
            </a:defPPr>
          </a:lstStyle>
          <a:p xmlns:a="http://schemas.openxmlformats.org/drawingml/2006/main">
            <a:pPr>
              <a:defRPr sz="975" b="0">
                <a:solidFill>
                  <a:srgbClr val="D0DCDE"/>
                </a:solidFill>
                <a:latin typeface="Arial"/>
                <a:ea typeface="Arial"/>
                <a:cs typeface="Arial"/>
              </a:defRPr>
            </a:pPr>
            <a:r>
              <a:rPr sz="975" b="0">
                <a:solidFill>
                  <a:srgbClr val="D0DCDE"/>
                </a:solidFill>
                <a:latin typeface="Arial"/>
                <a:ea typeface="Arial"/>
                <a:cs typeface="Arial"/>
              </a:rPr>
              <a:t>PRODUTIVIDADE  /  DADOS 100% SINTÉTICOS  /  JAN–JUN 2025</a:t>
            </a:r>
          </a:p>
        </p:txBody>
      </p:sp>
      <p:sp>
        <p:nvSpPr>
          <p:cNvPr id="4" name="">
            <a:extLst xmlns:a="http://schemas.openxmlformats.org/drawingml/2006/main">
              <a:ext uri="{FF2B5EF4-FFF2-40B4-BE49-F238E27FC236}">
                <a16:creationId xmlns:a16="http://schemas.microsoft.com/office/drawing/2014/main" id="{D3450947-D058-47F0-AA25-7FA4625D09F6}"/>
              </a:ext>
            </a:extLst>
          </p:cNvPr>
          <p:cNvSpPr>
            <a:spLocks xmlns:a="http://schemas.openxmlformats.org/drawingml/2006/main" noGrp="1"/>
          </p:cNvSpPr>
          <p:nvPr/>
        </p:nvSpPr>
        <p:spPr>
          <a:xfrm xmlns:a="http://schemas.openxmlformats.org/drawingml/2006/main">
            <a:off x="11049000" y="6353175"/>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D6F173"/>
                </a:solidFill>
                <a:latin typeface="Arial"/>
                <a:ea typeface="Arial"/>
                <a:cs typeface="Arial"/>
              </a:defRPr>
            </a:defPPr>
          </a:lstStyle>
          <a:p xmlns:a="http://schemas.openxmlformats.org/drawingml/2006/main">
            <a:pPr>
              <a:defRPr sz="1275" b="0">
                <a:solidFill>
                  <a:srgbClr val="D6F173"/>
                </a:solidFill>
                <a:latin typeface="Arial"/>
                <a:ea typeface="Arial"/>
                <a:cs typeface="Arial"/>
              </a:defRPr>
            </a:pPr>
            <a:r>
              <a:rPr sz="1275" b="0">
                <a:solidFill>
                  <a:srgbClr val="D6F173"/>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B0F4CB7A-39C7-4FDE-8F23-A1876C30266E}"/>
              </a:ext>
            </a:extLst>
          </p:cNvPr>
          <p:cNvSpPr>
            <a:spLocks xmlns:a="http://schemas.openxmlformats.org/drawingml/2006/main" noGrp="1"/>
          </p:cNvSpPr>
          <p:nvPr/>
        </p:nvSpPr>
        <p:spPr>
          <a:xfrm xmlns:a="http://schemas.openxmlformats.org/drawingml/2006/main">
            <a:off x="609600" y="2314575"/>
            <a:ext cx="933450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4350" b="0">
                <a:solidFill>
                  <a:srgbClr val="FFFFFF"/>
                </a:solidFill>
                <a:latin typeface="Arial"/>
                <a:ea typeface="Arial"/>
                <a:cs typeface="Arial"/>
              </a:defRPr>
            </a:defPPr>
          </a:lstStyle>
          <a:p xmlns:a="http://schemas.openxmlformats.org/drawingml/2006/main">
            <a:pPr>
              <a:defRPr sz="4350" b="0">
                <a:solidFill>
                  <a:srgbClr val="FFFFFF"/>
                </a:solidFill>
                <a:latin typeface="Arial"/>
                <a:ea typeface="Arial"/>
                <a:cs typeface="Arial"/>
              </a:defRPr>
            </a:pPr>
            <a:r>
              <a:rPr sz="4350" b="0">
                <a:solidFill>
                  <a:srgbClr val="FFFFFF"/>
                </a:solidFill>
                <a:latin typeface="Arial"/>
                <a:ea typeface="Arial"/>
                <a:cs typeface="Arial"/>
              </a:rPr>
              <a:t>Pessoas, custos</a:t>
            </a:r>
          </a:p>
          <a:p xmlns:a="http://schemas.openxmlformats.org/drawingml/2006/main">
            <a:pPr>
              <a:defRPr sz="4350" b="0">
                <a:solidFill>
                  <a:srgbClr val="FFFFFF"/>
                </a:solidFill>
                <a:latin typeface="Arial"/>
                <a:ea typeface="Arial"/>
                <a:cs typeface="Arial"/>
              </a:defRPr>
            </a:pPr>
            <a:r>
              <a:rPr sz="4350" b="0">
                <a:solidFill>
                  <a:srgbClr val="FFFFFF"/>
                </a:solidFill>
                <a:latin typeface="Arial"/>
                <a:ea typeface="Arial"/>
                <a:cs typeface="Arial"/>
              </a:rPr>
              <a:t>e cobertura operacional</a:t>
            </a:r>
          </a:p>
        </p:txBody>
      </p:sp>
      <p:sp>
        <p:nvSpPr>
          <p:cNvPr id="6" name="">
            <a:extLst xmlns:a="http://schemas.openxmlformats.org/drawingml/2006/main">
              <a:ext uri="{FF2B5EF4-FFF2-40B4-BE49-F238E27FC236}">
                <a16:creationId xmlns:a16="http://schemas.microsoft.com/office/drawing/2014/main" id="{F6F10CC4-7E03-4B39-A286-870D0353BDC1}"/>
              </a:ext>
            </a:extLst>
          </p:cNvPr>
          <p:cNvSpPr>
            <a:spLocks xmlns:a="http://schemas.openxmlformats.org/drawingml/2006/main" noGrp="1"/>
          </p:cNvSpPr>
          <p:nvPr/>
        </p:nvSpPr>
        <p:spPr>
          <a:xfrm xmlns:a="http://schemas.openxmlformats.org/drawingml/2006/main">
            <a:off x="647700" y="4762500"/>
            <a:ext cx="9715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D0DCDE"/>
                </a:solidFill>
                <a:latin typeface="Arial"/>
                <a:ea typeface="Arial"/>
                <a:cs typeface="Arial"/>
              </a:defRPr>
            </a:defPPr>
          </a:lstStyle>
          <a:p xmlns:a="http://schemas.openxmlformats.org/drawingml/2006/main">
            <a:pPr>
              <a:defRPr sz="2025" b="0">
                <a:solidFill>
                  <a:srgbClr val="D0DCDE"/>
                </a:solidFill>
                <a:latin typeface="Arial"/>
                <a:ea typeface="Arial"/>
                <a:cs typeface="Arial"/>
              </a:defRPr>
            </a:pPr>
            <a:r>
              <a:rPr sz="2025" b="0">
                <a:solidFill>
                  <a:srgbClr val="D0DCDE"/>
                </a:solidFill>
                <a:latin typeface="Arial"/>
                <a:ea typeface="Arial"/>
                <a:cs typeface="Arial"/>
              </a:rPr>
              <a:t>Case demonstrativo para entrevistas</a:t>
            </a:r>
          </a:p>
          <a:p xmlns:a="http://schemas.openxmlformats.org/drawingml/2006/main">
            <a:pPr>
              <a:defRPr sz="2025" b="0">
                <a:solidFill>
                  <a:srgbClr val="D0DCDE"/>
                </a:solidFill>
                <a:latin typeface="Arial"/>
                <a:ea typeface="Arial"/>
                <a:cs typeface="Arial"/>
              </a:defRPr>
            </a:pPr>
            <a:r>
              <a:rPr sz="2025" b="0">
                <a:solidFill>
                  <a:srgbClr val="D0DCDE"/>
                </a:solidFill>
                <a:latin typeface="Arial"/>
                <a:ea typeface="Arial"/>
                <a:cs typeface="Arial"/>
              </a:rPr>
              <a:t>Posicionamento: Analista de Dados Pleno</a:t>
            </a:r>
          </a:p>
        </p:txBody>
      </p:sp>
    </p:spTree>
    <p:extLst>
      <p:ext uri="{BB962C8B-B14F-4D97-AF65-F5344CB8AC3E}">
        <p14:creationId xmlns:p14="http://schemas.microsoft.com/office/powerpoint/2010/main" val="1151281304"/>
      </p:ext>
    </p:extLst>
  </p:cSld>
</p:sld>
</file>

<file path=ppt/slides/slide2.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5330181-0B82-494C-B57A-4391A582B0BE}"/>
              </a:ext>
            </a:extLst>
          </p:cNvPr>
          <p:cNvSpPr>
            <a:spLocks xmlns:a="http://schemas.openxmlformats.org/drawingml/2006/main" noGrp="1"/>
          </p:cNvSpPr>
          <p:nvPr/>
        </p:nvSpPr>
        <p:spPr>
          <a:xfrm xmlns:a="http://schemas.openxmlformats.org/drawingml/2006/main">
            <a:off x="609600" y="3619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1">
                <a:solidFill>
                  <a:srgbClr val="157868"/>
                </a:solidFill>
                <a:latin typeface="Arial"/>
                <a:ea typeface="Arial"/>
                <a:cs typeface="Arial"/>
              </a:defRPr>
            </a:defPPr>
          </a:lstStyle>
          <a:p xmlns:a="http://schemas.openxmlformats.org/drawingml/2006/main">
            <a:pPr>
              <a:defRPr sz="1200" b="1">
                <a:solidFill>
                  <a:srgbClr val="157868"/>
                </a:solidFill>
                <a:latin typeface="Arial"/>
                <a:ea typeface="Arial"/>
                <a:cs typeface="Arial"/>
              </a:defRPr>
            </a:pPr>
            <a:r>
              <a:rPr sz="1200" b="1">
                <a:solidFill>
                  <a:srgbClr val="157868"/>
                </a:solidFill>
                <a:latin typeface="Arial"/>
                <a:ea typeface="Arial"/>
                <a:cs typeface="Arial"/>
              </a:rPr>
              <a:t>CONTEXTO</a:t>
            </a:r>
          </a:p>
        </p:txBody>
      </p:sp>
      <p:sp>
        <p:nvSpPr>
          <p:cNvPr id="2" name="">
            <a:extLst xmlns:a="http://schemas.openxmlformats.org/drawingml/2006/main">
              <a:ext uri="{FF2B5EF4-FFF2-40B4-BE49-F238E27FC236}">
                <a16:creationId xmlns:a16="http://schemas.microsoft.com/office/drawing/2014/main" id="{A8C54B2A-36C9-431E-91CB-6A8EFA252BCB}"/>
              </a:ext>
            </a:extLst>
          </p:cNvPr>
          <p:cNvSpPr>
            <a:spLocks xmlns:a="http://schemas.openxmlformats.org/drawingml/2006/main" noGrp="1"/>
          </p:cNvSpPr>
          <p:nvPr/>
        </p:nvSpPr>
        <p:spPr>
          <a:xfrm xmlns:a="http://schemas.openxmlformats.org/drawingml/2006/main">
            <a:off x="609600" y="914400"/>
            <a:ext cx="10858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450" b="1">
                <a:solidFill>
                  <a:srgbClr val="112F3A"/>
                </a:solidFill>
                <a:latin typeface="Arial"/>
                <a:ea typeface="Arial"/>
                <a:cs typeface="Arial"/>
              </a:defRPr>
            </a:defPPr>
          </a:lstStyle>
          <a:p xmlns:a="http://schemas.openxmlformats.org/drawingml/2006/main">
            <a:pPr>
              <a:defRPr sz="3450" b="1">
                <a:solidFill>
                  <a:srgbClr val="112F3A"/>
                </a:solidFill>
                <a:latin typeface="Arial"/>
                <a:ea typeface="Arial"/>
                <a:cs typeface="Arial"/>
              </a:defRPr>
            </a:pPr>
            <a:r>
              <a:rPr sz="3450" b="1">
                <a:solidFill>
                  <a:srgbClr val="112F3A"/>
                </a:solidFill>
                <a:latin typeface="Arial"/>
                <a:ea typeface="Arial"/>
                <a:cs typeface="Arial"/>
              </a:rPr>
              <a:t>A pergunta de negócio</a:t>
            </a:r>
          </a:p>
        </p:txBody>
      </p:sp>
      <p:sp>
        <p:nvSpPr>
          <p:cNvPr id="3" name="">
            <a:extLst xmlns:a="http://schemas.openxmlformats.org/drawingml/2006/main">
              <a:ext uri="{FF2B5EF4-FFF2-40B4-BE49-F238E27FC236}">
                <a16:creationId xmlns:a16="http://schemas.microsoft.com/office/drawing/2014/main" id="{00457BB4-D191-4388-A7C6-193BE04075D8}"/>
              </a:ext>
            </a:extLst>
          </p:cNvPr>
          <p:cNvSpPr>
            <a:spLocks xmlns:a="http://schemas.openxmlformats.org/drawingml/2006/main" noGrp="1"/>
          </p:cNvSpPr>
          <p:nvPr/>
        </p:nvSpPr>
        <p:spPr>
          <a:xfrm xmlns:a="http://schemas.openxmlformats.org/drawingml/2006/main">
            <a:off x="609600" y="63817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2656A"/>
                </a:solidFill>
                <a:latin typeface="Arial"/>
                <a:ea typeface="Arial"/>
                <a:cs typeface="Arial"/>
              </a:defRPr>
            </a:defPPr>
          </a:lstStyle>
          <a:p xmlns:a="http://schemas.openxmlformats.org/drawingml/2006/main">
            <a:pPr>
              <a:defRPr sz="975" b="0">
                <a:solidFill>
                  <a:srgbClr val="52656A"/>
                </a:solidFill>
                <a:latin typeface="Arial"/>
                <a:ea typeface="Arial"/>
                <a:cs typeface="Arial"/>
              </a:defRPr>
            </a:pPr>
            <a:r>
              <a:rPr sz="975" b="0">
                <a:solidFill>
                  <a:srgbClr val="52656A"/>
                </a:solidFill>
                <a:latin typeface="Arial"/>
                <a:ea typeface="Arial"/>
                <a:cs typeface="Arial"/>
              </a:rPr>
              <a:t>PRODUTIVIDADE  /  DADOS 100% SINTÉTICOS  /  JAN–JUN 2025</a:t>
            </a:r>
          </a:p>
        </p:txBody>
      </p:sp>
      <p:sp>
        <p:nvSpPr>
          <p:cNvPr id="4" name="">
            <a:extLst xmlns:a="http://schemas.openxmlformats.org/drawingml/2006/main">
              <a:ext uri="{FF2B5EF4-FFF2-40B4-BE49-F238E27FC236}">
                <a16:creationId xmlns:a16="http://schemas.microsoft.com/office/drawing/2014/main" id="{E738CED6-ACB8-4D7B-90FD-124744A2242E}"/>
              </a:ext>
            </a:extLst>
          </p:cNvPr>
          <p:cNvSpPr>
            <a:spLocks xmlns:a="http://schemas.openxmlformats.org/drawingml/2006/main" noGrp="1"/>
          </p:cNvSpPr>
          <p:nvPr/>
        </p:nvSpPr>
        <p:spPr>
          <a:xfrm xmlns:a="http://schemas.openxmlformats.org/drawingml/2006/main">
            <a:off x="11049000" y="6353175"/>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57868"/>
                </a:solidFill>
                <a:latin typeface="Arial"/>
                <a:ea typeface="Arial"/>
                <a:cs typeface="Arial"/>
              </a:defRPr>
            </a:defPPr>
          </a:lstStyle>
          <a:p xmlns:a="http://schemas.openxmlformats.org/drawingml/2006/main">
            <a:pPr>
              <a:defRPr sz="1275" b="0">
                <a:solidFill>
                  <a:srgbClr val="157868"/>
                </a:solidFill>
                <a:latin typeface="Arial"/>
                <a:ea typeface="Arial"/>
                <a:cs typeface="Arial"/>
              </a:defRPr>
            </a:pPr>
            <a:r>
              <a:rPr sz="1275" b="0">
                <a:solidFill>
                  <a:srgbClr val="157868"/>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5837C493-4417-4F82-BA1A-F4C0CBE837F9}"/>
              </a:ext>
            </a:extLst>
          </p:cNvPr>
          <p:cNvSpPr>
            <a:spLocks xmlns:a="http://schemas.openxmlformats.org/drawingml/2006/main" noGrp="1"/>
          </p:cNvSpPr>
          <p:nvPr/>
        </p:nvSpPr>
        <p:spPr>
          <a:xfrm xmlns:a="http://schemas.openxmlformats.org/drawingml/2006/main">
            <a:off x="609600" y="2238375"/>
            <a:ext cx="63817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600" b="1">
                <a:solidFill>
                  <a:srgbClr val="112F3A"/>
                </a:solidFill>
                <a:latin typeface="Arial"/>
                <a:ea typeface="Arial"/>
                <a:cs typeface="Arial"/>
              </a:defRPr>
            </a:defPPr>
          </a:lstStyle>
          <a:p xmlns:a="http://schemas.openxmlformats.org/drawingml/2006/main">
            <a:pPr>
              <a:defRPr sz="3600" b="1">
                <a:solidFill>
                  <a:srgbClr val="112F3A"/>
                </a:solidFill>
                <a:latin typeface="Arial"/>
                <a:ea typeface="Arial"/>
                <a:cs typeface="Arial"/>
              </a:defRPr>
            </a:pPr>
            <a:r>
              <a:rPr sz="3600" b="1">
                <a:solidFill>
                  <a:srgbClr val="112F3A"/>
                </a:solidFill>
                <a:latin typeface="Arial"/>
                <a:ea typeface="Arial"/>
                <a:cs typeface="Arial"/>
              </a:rPr>
              <a:t>Quanto podemos confiar</a:t>
            </a:r>
          </a:p>
          <a:p xmlns:a="http://schemas.openxmlformats.org/drawingml/2006/main">
            <a:pPr>
              <a:defRPr sz="3600" b="1">
                <a:solidFill>
                  <a:srgbClr val="112F3A"/>
                </a:solidFill>
                <a:latin typeface="Arial"/>
                <a:ea typeface="Arial"/>
                <a:cs typeface="Arial"/>
              </a:defRPr>
            </a:pPr>
            <a:r>
              <a:rPr sz="3600" b="1">
                <a:solidFill>
                  <a:srgbClr val="112F3A"/>
                </a:solidFill>
                <a:latin typeface="Arial"/>
                <a:ea typeface="Arial"/>
                <a:cs typeface="Arial"/>
              </a:rPr>
              <a:t>na visão da operação?</a:t>
            </a:r>
          </a:p>
        </p:txBody>
      </p:sp>
      <p:sp>
        <p:nvSpPr>
          <p:cNvPr id="6" name="">
            <a:extLst xmlns:a="http://schemas.openxmlformats.org/drawingml/2006/main">
              <a:ext uri="{FF2B5EF4-FFF2-40B4-BE49-F238E27FC236}">
                <a16:creationId xmlns:a16="http://schemas.microsoft.com/office/drawing/2014/main" id="{4D5672E9-15E9-4336-8EF5-0DFDAB69455A}"/>
              </a:ext>
            </a:extLst>
          </p:cNvPr>
          <p:cNvSpPr>
            <a:spLocks xmlns:a="http://schemas.openxmlformats.org/drawingml/2006/main" noGrp="1"/>
          </p:cNvSpPr>
          <p:nvPr/>
        </p:nvSpPr>
        <p:spPr>
          <a:xfrm xmlns:a="http://schemas.openxmlformats.org/drawingml/2006/main">
            <a:off x="7715250" y="2324100"/>
            <a:ext cx="3714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12F3A"/>
                </a:solidFill>
                <a:latin typeface="Arial"/>
                <a:ea typeface="Arial"/>
                <a:cs typeface="Arial"/>
              </a:defRPr>
            </a:defPPr>
          </a:lstStyle>
          <a:p xmlns:a="http://schemas.openxmlformats.org/drawingml/2006/main">
            <a:pPr>
              <a:defRPr sz="2100" b="0">
                <a:solidFill>
                  <a:srgbClr val="112F3A"/>
                </a:solidFill>
                <a:latin typeface="Arial"/>
                <a:ea typeface="Arial"/>
                <a:cs typeface="Arial"/>
              </a:defRPr>
            </a:pPr>
            <a:r>
              <a:rPr sz="2100" b="0">
                <a:solidFill>
                  <a:srgbClr val="112F3A"/>
                </a:solidFill>
                <a:latin typeface="Arial"/>
                <a:ea typeface="Arial"/>
                <a:cs typeface="Arial"/>
              </a:rPr>
              <a:t>A organização fictícia acompanha o quadro e os custos enquanto amplia a coleta de dados operacionais.</a:t>
            </a:r>
          </a:p>
        </p:txBody>
      </p:sp>
      <p:sp>
        <p:nvSpPr>
          <p:cNvPr id="7" name="">
            <a:extLst xmlns:a="http://schemas.openxmlformats.org/drawingml/2006/main">
              <a:ext uri="{FF2B5EF4-FFF2-40B4-BE49-F238E27FC236}">
                <a16:creationId xmlns:a16="http://schemas.microsoft.com/office/drawing/2014/main" id="{115CC212-959B-41E0-8C0D-BED33464C7C4}"/>
              </a:ext>
            </a:extLst>
          </p:cNvPr>
          <p:cNvSpPr>
            <a:spLocks xmlns:a="http://schemas.openxmlformats.org/drawingml/2006/main" noGrp="1"/>
          </p:cNvSpPr>
          <p:nvPr/>
        </p:nvSpPr>
        <p:spPr>
          <a:xfrm xmlns:a="http://schemas.openxmlformats.org/drawingml/2006/main">
            <a:off x="609600" y="4648200"/>
            <a:ext cx="10477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57868"/>
                </a:solidFill>
                <a:latin typeface="Arial"/>
                <a:ea typeface="Arial"/>
                <a:cs typeface="Arial"/>
              </a:defRPr>
            </a:defPPr>
          </a:lstStyle>
          <a:p xmlns:a="http://schemas.openxmlformats.org/drawingml/2006/main">
            <a:pPr>
              <a:defRPr sz="2175" b="0">
                <a:solidFill>
                  <a:srgbClr val="157868"/>
                </a:solidFill>
                <a:latin typeface="Arial"/>
                <a:ea typeface="Arial"/>
                <a:cs typeface="Arial"/>
              </a:defRPr>
            </a:pPr>
            <a:r>
              <a:rPr sz="2175" b="0">
                <a:solidFill>
                  <a:srgbClr val="157868"/>
                </a:solidFill>
                <a:latin typeface="Arial"/>
                <a:ea typeface="Arial"/>
                <a:cs typeface="Arial"/>
              </a:rPr>
              <a:t>Ausência de coleta muda o que conseguimos observar.</a:t>
            </a:r>
          </a:p>
          <a:p xmlns:a="http://schemas.openxmlformats.org/drawingml/2006/main">
            <a:pPr>
              <a:defRPr sz="2175" b="0">
                <a:solidFill>
                  <a:srgbClr val="157868"/>
                </a:solidFill>
                <a:latin typeface="Arial"/>
                <a:ea typeface="Arial"/>
                <a:cs typeface="Arial"/>
              </a:defRPr>
            </a:pPr>
            <a:r>
              <a:rPr sz="2175" b="0">
                <a:solidFill>
                  <a:srgbClr val="157868"/>
                </a:solidFill>
                <a:latin typeface="Arial"/>
                <a:ea typeface="Arial"/>
                <a:cs typeface="Arial"/>
              </a:rPr>
              <a:t>Por isso, cobertura e atividade usam indicadores distintos.</a:t>
            </a:r>
          </a:p>
        </p:txBody>
      </p:sp>
    </p:spTree>
    <p:extLst>
      <p:ext uri="{BB962C8B-B14F-4D97-AF65-F5344CB8AC3E}">
        <p14:creationId xmlns:p14="http://schemas.microsoft.com/office/powerpoint/2010/main" val="1384730459"/>
      </p:ext>
    </p:extLst>
  </p:cSld>
</p:sld>
</file>

<file path=ppt/slides/slide3.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1850451-D135-4259-8D2F-C3A9EF6CE694}"/>
              </a:ext>
            </a:extLst>
          </p:cNvPr>
          <p:cNvSpPr>
            <a:spLocks xmlns:a="http://schemas.openxmlformats.org/drawingml/2006/main" noGrp="1"/>
          </p:cNvSpPr>
          <p:nvPr/>
        </p:nvSpPr>
        <p:spPr>
          <a:xfrm xmlns:a="http://schemas.openxmlformats.org/drawingml/2006/main">
            <a:off x="609600" y="3619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1">
                <a:solidFill>
                  <a:srgbClr val="157868"/>
                </a:solidFill>
                <a:latin typeface="Arial"/>
                <a:ea typeface="Arial"/>
                <a:cs typeface="Arial"/>
              </a:defRPr>
            </a:defPPr>
          </a:lstStyle>
          <a:p xmlns:a="http://schemas.openxmlformats.org/drawingml/2006/main">
            <a:pPr>
              <a:defRPr sz="1200" b="1">
                <a:solidFill>
                  <a:srgbClr val="157868"/>
                </a:solidFill>
                <a:latin typeface="Arial"/>
                <a:ea typeface="Arial"/>
                <a:cs typeface="Arial"/>
              </a:defRPr>
            </a:pPr>
            <a:r>
              <a:rPr sz="1200" b="1">
                <a:solidFill>
                  <a:srgbClr val="157868"/>
                </a:solidFill>
                <a:latin typeface="Arial"/>
                <a:ea typeface="Arial"/>
                <a:cs typeface="Arial"/>
              </a:rPr>
              <a:t>IMPLEMENTAÇÃO</a:t>
            </a:r>
          </a:p>
        </p:txBody>
      </p:sp>
      <p:sp>
        <p:nvSpPr>
          <p:cNvPr id="2" name="">
            <a:extLst xmlns:a="http://schemas.openxmlformats.org/drawingml/2006/main">
              <a:ext uri="{FF2B5EF4-FFF2-40B4-BE49-F238E27FC236}">
                <a16:creationId xmlns:a16="http://schemas.microsoft.com/office/drawing/2014/main" id="{24FF299F-4CB5-4074-89A9-B4CCB3640D4D}"/>
              </a:ext>
            </a:extLst>
          </p:cNvPr>
          <p:cNvSpPr>
            <a:spLocks xmlns:a="http://schemas.openxmlformats.org/drawingml/2006/main" noGrp="1"/>
          </p:cNvSpPr>
          <p:nvPr/>
        </p:nvSpPr>
        <p:spPr>
          <a:xfrm xmlns:a="http://schemas.openxmlformats.org/drawingml/2006/main">
            <a:off x="609600" y="914400"/>
            <a:ext cx="10858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450" b="1">
                <a:solidFill>
                  <a:srgbClr val="112F3A"/>
                </a:solidFill>
                <a:latin typeface="Arial"/>
                <a:ea typeface="Arial"/>
                <a:cs typeface="Arial"/>
              </a:defRPr>
            </a:defPPr>
          </a:lstStyle>
          <a:p xmlns:a="http://schemas.openxmlformats.org/drawingml/2006/main">
            <a:pPr>
              <a:defRPr sz="3450" b="1">
                <a:solidFill>
                  <a:srgbClr val="112F3A"/>
                </a:solidFill>
                <a:latin typeface="Arial"/>
                <a:ea typeface="Arial"/>
                <a:cs typeface="Arial"/>
              </a:defRPr>
            </a:pPr>
            <a:r>
              <a:rPr sz="3450" b="1">
                <a:solidFill>
                  <a:srgbClr val="112F3A"/>
                </a:solidFill>
                <a:latin typeface="Arial"/>
                <a:ea typeface="Arial"/>
                <a:cs typeface="Arial"/>
              </a:rPr>
              <a:t>Um fluxo com regras verificáveis</a:t>
            </a:r>
          </a:p>
        </p:txBody>
      </p:sp>
      <p:sp>
        <p:nvSpPr>
          <p:cNvPr id="3" name="">
            <a:extLst xmlns:a="http://schemas.openxmlformats.org/drawingml/2006/main">
              <a:ext uri="{FF2B5EF4-FFF2-40B4-BE49-F238E27FC236}">
                <a16:creationId xmlns:a16="http://schemas.microsoft.com/office/drawing/2014/main" id="{786404B2-E2DA-4C97-BE6D-A42BF96ECE27}"/>
              </a:ext>
            </a:extLst>
          </p:cNvPr>
          <p:cNvSpPr>
            <a:spLocks xmlns:a="http://schemas.openxmlformats.org/drawingml/2006/main" noGrp="1"/>
          </p:cNvSpPr>
          <p:nvPr/>
        </p:nvSpPr>
        <p:spPr>
          <a:xfrm xmlns:a="http://schemas.openxmlformats.org/drawingml/2006/main">
            <a:off x="609600" y="63817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2656A"/>
                </a:solidFill>
                <a:latin typeface="Arial"/>
                <a:ea typeface="Arial"/>
                <a:cs typeface="Arial"/>
              </a:defRPr>
            </a:defPPr>
          </a:lstStyle>
          <a:p xmlns:a="http://schemas.openxmlformats.org/drawingml/2006/main">
            <a:pPr>
              <a:defRPr sz="975" b="0">
                <a:solidFill>
                  <a:srgbClr val="52656A"/>
                </a:solidFill>
                <a:latin typeface="Arial"/>
                <a:ea typeface="Arial"/>
                <a:cs typeface="Arial"/>
              </a:defRPr>
            </a:pPr>
            <a:r>
              <a:rPr sz="975" b="0">
                <a:solidFill>
                  <a:srgbClr val="52656A"/>
                </a:solidFill>
                <a:latin typeface="Arial"/>
                <a:ea typeface="Arial"/>
                <a:cs typeface="Arial"/>
              </a:rPr>
              <a:t>PRODUTIVIDADE  /  DADOS 100% SINTÉTICOS  /  JAN–JUN 2025</a:t>
            </a:r>
          </a:p>
        </p:txBody>
      </p:sp>
      <p:sp>
        <p:nvSpPr>
          <p:cNvPr id="4" name="">
            <a:extLst xmlns:a="http://schemas.openxmlformats.org/drawingml/2006/main">
              <a:ext uri="{FF2B5EF4-FFF2-40B4-BE49-F238E27FC236}">
                <a16:creationId xmlns:a16="http://schemas.microsoft.com/office/drawing/2014/main" id="{89DCBD72-7070-4760-B05D-621C3EFF911A}"/>
              </a:ext>
            </a:extLst>
          </p:cNvPr>
          <p:cNvSpPr>
            <a:spLocks xmlns:a="http://schemas.openxmlformats.org/drawingml/2006/main" noGrp="1"/>
          </p:cNvSpPr>
          <p:nvPr/>
        </p:nvSpPr>
        <p:spPr>
          <a:xfrm xmlns:a="http://schemas.openxmlformats.org/drawingml/2006/main">
            <a:off x="11049000" y="6353175"/>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57868"/>
                </a:solidFill>
                <a:latin typeface="Arial"/>
                <a:ea typeface="Arial"/>
                <a:cs typeface="Arial"/>
              </a:defRPr>
            </a:defPPr>
          </a:lstStyle>
          <a:p xmlns:a="http://schemas.openxmlformats.org/drawingml/2006/main">
            <a:pPr>
              <a:defRPr sz="1275" b="0">
                <a:solidFill>
                  <a:srgbClr val="157868"/>
                </a:solidFill>
                <a:latin typeface="Arial"/>
                <a:ea typeface="Arial"/>
                <a:cs typeface="Arial"/>
              </a:defRPr>
            </a:pPr>
            <a:r>
              <a:rPr sz="1275" b="0">
                <a:solidFill>
                  <a:srgbClr val="157868"/>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EF84992C-2006-4728-B784-E54F004CCA11}"/>
              </a:ext>
            </a:extLst>
          </p:cNvPr>
          <p:cNvSpPr>
            <a:spLocks xmlns:a="http://schemas.openxmlformats.org/drawingml/2006/main" noGrp="1"/>
          </p:cNvSpPr>
          <p:nvPr/>
        </p:nvSpPr>
        <p:spPr>
          <a:xfrm xmlns:a="http://schemas.openxmlformats.org/drawingml/2006/main">
            <a:off x="609600" y="2219325"/>
            <a:ext cx="4667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157868"/>
                </a:solidFill>
                <a:latin typeface="Arial"/>
                <a:ea typeface="Arial"/>
                <a:cs typeface="Arial"/>
              </a:defRPr>
            </a:defPPr>
          </a:lstStyle>
          <a:p xmlns:a="http://schemas.openxmlformats.org/drawingml/2006/main">
            <a:pPr>
              <a:defRPr sz="2250" b="1">
                <a:solidFill>
                  <a:srgbClr val="157868"/>
                </a:solidFill>
                <a:latin typeface="Arial"/>
                <a:ea typeface="Arial"/>
                <a:cs typeface="Arial"/>
              </a:defRPr>
            </a:pPr>
            <a:r>
              <a:rPr sz="2250" b="1">
                <a:solidFill>
                  <a:srgbClr val="157868"/>
                </a:solidFill>
                <a:latin typeface="Arial"/>
                <a:ea typeface="Arial"/>
                <a:cs typeface="Arial"/>
              </a:rPr>
              <a:t>01  Fonte sintética</a:t>
            </a:r>
          </a:p>
        </p:txBody>
      </p:sp>
      <p:sp>
        <p:nvSpPr>
          <p:cNvPr id="6" name="">
            <a:extLst xmlns:a="http://schemas.openxmlformats.org/drawingml/2006/main">
              <a:ext uri="{FF2B5EF4-FFF2-40B4-BE49-F238E27FC236}">
                <a16:creationId xmlns:a16="http://schemas.microsoft.com/office/drawing/2014/main" id="{C7316B27-3624-4186-A3B7-774514144A57}"/>
              </a:ext>
            </a:extLst>
          </p:cNvPr>
          <p:cNvSpPr>
            <a:spLocks xmlns:a="http://schemas.openxmlformats.org/drawingml/2006/main" noGrp="1"/>
          </p:cNvSpPr>
          <p:nvPr/>
        </p:nvSpPr>
        <p:spPr>
          <a:xfrm xmlns:a="http://schemas.openxmlformats.org/drawingml/2006/main">
            <a:off x="609600" y="2857500"/>
            <a:ext cx="4667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12F3A"/>
                </a:solidFill>
                <a:latin typeface="Arial"/>
                <a:ea typeface="Arial"/>
                <a:cs typeface="Arial"/>
              </a:defRPr>
            </a:defPPr>
          </a:lstStyle>
          <a:p xmlns:a="http://schemas.openxmlformats.org/drawingml/2006/main">
            <a:pPr>
              <a:defRPr sz="2100" b="0">
                <a:solidFill>
                  <a:srgbClr val="112F3A"/>
                </a:solidFill>
                <a:latin typeface="Arial"/>
                <a:ea typeface="Arial"/>
                <a:cs typeface="Arial"/>
              </a:defRPr>
            </a:pPr>
            <a:r>
              <a:rPr sz="2100" b="0">
                <a:solidFill>
                  <a:srgbClr val="112F3A"/>
                </a:solidFill>
                <a:latin typeface="Arial"/>
                <a:ea typeface="Arial"/>
                <a:cs typeface="Arial"/>
              </a:rPr>
              <a:t>240 vínculos fictícios</a:t>
            </a:r>
          </a:p>
          <a:p xmlns:a="http://schemas.openxmlformats.org/drawingml/2006/main">
            <a:pPr>
              <a:defRPr sz="2100" b="0">
                <a:solidFill>
                  <a:srgbClr val="112F3A"/>
                </a:solidFill>
                <a:latin typeface="Arial"/>
                <a:ea typeface="Arial"/>
                <a:cs typeface="Arial"/>
              </a:defRPr>
            </a:pPr>
            <a:r>
              <a:rPr sz="2100" b="0">
                <a:solidFill>
                  <a:srgbClr val="112F3A"/>
                </a:solidFill>
                <a:latin typeface="Arial"/>
                <a:ea typeface="Arial"/>
                <a:cs typeface="Arial"/>
              </a:rPr>
              <a:t>1.272 registros pessoa/mês</a:t>
            </a:r>
          </a:p>
          <a:p xmlns:a="http://schemas.openxmlformats.org/drawingml/2006/main">
            <a:pPr>
              <a:defRPr sz="2100" b="0">
                <a:solidFill>
                  <a:srgbClr val="112F3A"/>
                </a:solidFill>
                <a:latin typeface="Arial"/>
                <a:ea typeface="Arial"/>
                <a:cs typeface="Arial"/>
              </a:defRPr>
            </a:pPr>
            <a:r>
              <a:rPr sz="2100" b="0">
                <a:solidFill>
                  <a:srgbClr val="112F3A"/>
                </a:solidFill>
                <a:latin typeface="Arial"/>
                <a:ea typeface="Arial"/>
                <a:cs typeface="Arial"/>
              </a:rPr>
              <a:t>Quatro áreas, seed 42</a:t>
            </a:r>
          </a:p>
        </p:txBody>
      </p:sp>
      <p:sp>
        <p:nvSpPr>
          <p:cNvPr id="7" name="">
            <a:extLst xmlns:a="http://schemas.openxmlformats.org/drawingml/2006/main">
              <a:ext uri="{FF2B5EF4-FFF2-40B4-BE49-F238E27FC236}">
                <a16:creationId xmlns:a16="http://schemas.microsoft.com/office/drawing/2014/main" id="{D916286C-0C74-4049-9496-A790CF8B4872}"/>
              </a:ext>
            </a:extLst>
          </p:cNvPr>
          <p:cNvSpPr>
            <a:spLocks xmlns:a="http://schemas.openxmlformats.org/drawingml/2006/main" noGrp="1"/>
          </p:cNvSpPr>
          <p:nvPr/>
        </p:nvSpPr>
        <p:spPr>
          <a:xfrm xmlns:a="http://schemas.openxmlformats.org/drawingml/2006/main">
            <a:off x="6515100" y="2219325"/>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157868"/>
                </a:solidFill>
                <a:latin typeface="Arial"/>
                <a:ea typeface="Arial"/>
                <a:cs typeface="Arial"/>
              </a:defRPr>
            </a:defPPr>
          </a:lstStyle>
          <a:p xmlns:a="http://schemas.openxmlformats.org/drawingml/2006/main">
            <a:pPr>
              <a:defRPr sz="2250" b="1">
                <a:solidFill>
                  <a:srgbClr val="157868"/>
                </a:solidFill>
                <a:latin typeface="Arial"/>
                <a:ea typeface="Arial"/>
                <a:cs typeface="Arial"/>
              </a:defRPr>
            </a:pPr>
            <a:r>
              <a:rPr sz="2250" b="1">
                <a:solidFill>
                  <a:srgbClr val="157868"/>
                </a:solidFill>
                <a:latin typeface="Arial"/>
                <a:ea typeface="Arial"/>
                <a:cs typeface="Arial"/>
              </a:rPr>
              <a:t>02  Carga incremental</a:t>
            </a:r>
          </a:p>
        </p:txBody>
      </p:sp>
      <p:sp>
        <p:nvSpPr>
          <p:cNvPr id="8" name="">
            <a:extLst xmlns:a="http://schemas.openxmlformats.org/drawingml/2006/main">
              <a:ext uri="{FF2B5EF4-FFF2-40B4-BE49-F238E27FC236}">
                <a16:creationId xmlns:a16="http://schemas.microsoft.com/office/drawing/2014/main" id="{B8E2788F-41C4-4C8C-A5D5-D243E9CB4B25}"/>
              </a:ext>
            </a:extLst>
          </p:cNvPr>
          <p:cNvSpPr>
            <a:spLocks xmlns:a="http://schemas.openxmlformats.org/drawingml/2006/main" noGrp="1"/>
          </p:cNvSpPr>
          <p:nvPr/>
        </p:nvSpPr>
        <p:spPr>
          <a:xfrm xmlns:a="http://schemas.openxmlformats.org/drawingml/2006/main">
            <a:off x="6515100" y="2857500"/>
            <a:ext cx="4953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12F3A"/>
                </a:solidFill>
                <a:latin typeface="Arial"/>
                <a:ea typeface="Arial"/>
                <a:cs typeface="Arial"/>
              </a:defRPr>
            </a:defPPr>
          </a:lstStyle>
          <a:p xmlns:a="http://schemas.openxmlformats.org/drawingml/2006/main">
            <a:pPr>
              <a:defRPr sz="2100" b="0">
                <a:solidFill>
                  <a:srgbClr val="112F3A"/>
                </a:solidFill>
                <a:latin typeface="Arial"/>
                <a:ea typeface="Arial"/>
                <a:cs typeface="Arial"/>
              </a:defRPr>
            </a:pPr>
            <a:r>
              <a:rPr sz="2100" b="0">
                <a:solidFill>
                  <a:srgbClr val="112F3A"/>
                </a:solidFill>
                <a:latin typeface="Arial"/>
                <a:ea typeface="Arial"/>
                <a:cs typeface="Arial"/>
              </a:rPr>
              <a:t>Janeiro a maio na base</a:t>
            </a:r>
          </a:p>
          <a:p xmlns:a="http://schemas.openxmlformats.org/drawingml/2006/main">
            <a:pPr>
              <a:defRPr sz="2100" b="0">
                <a:solidFill>
                  <a:srgbClr val="112F3A"/>
                </a:solidFill>
                <a:latin typeface="Arial"/>
                <a:ea typeface="Arial"/>
                <a:cs typeface="Arial"/>
              </a:defRPr>
            </a:pPr>
            <a:r>
              <a:rPr sz="2100" b="0">
                <a:solidFill>
                  <a:srgbClr val="112F3A"/>
                </a:solidFill>
                <a:latin typeface="Arial"/>
                <a:ea typeface="Arial"/>
                <a:cs typeface="Arial"/>
              </a:rPr>
              <a:t>Junho no segundo lote</a:t>
            </a:r>
          </a:p>
          <a:p xmlns:a="http://schemas.openxmlformats.org/drawingml/2006/main">
            <a:pPr>
              <a:defRPr sz="2100" b="0">
                <a:solidFill>
                  <a:srgbClr val="112F3A"/>
                </a:solidFill>
                <a:latin typeface="Arial"/>
                <a:ea typeface="Arial"/>
                <a:cs typeface="Arial"/>
              </a:defRPr>
            </a:pPr>
            <a:r>
              <a:rPr sz="2100" b="0">
                <a:solidFill>
                  <a:srgbClr val="112F3A"/>
                </a:solidFill>
                <a:latin typeface="Arial"/>
                <a:ea typeface="Arial"/>
                <a:cs typeface="Arial"/>
              </a:rPr>
              <a:t>Correção retroativa de março</a:t>
            </a:r>
          </a:p>
        </p:txBody>
      </p:sp>
      <p:sp>
        <p:nvSpPr>
          <p:cNvPr id="9" name="">
            <a:extLst xmlns:a="http://schemas.openxmlformats.org/drawingml/2006/main">
              <a:ext uri="{FF2B5EF4-FFF2-40B4-BE49-F238E27FC236}">
                <a16:creationId xmlns:a16="http://schemas.microsoft.com/office/drawing/2014/main" id="{FCD6C2ED-E535-475E-96B2-F478EFCB5585}"/>
              </a:ext>
            </a:extLst>
          </p:cNvPr>
          <p:cNvSpPr>
            <a:spLocks xmlns:a="http://schemas.openxmlformats.org/drawingml/2006/main" noGrp="1"/>
          </p:cNvSpPr>
          <p:nvPr/>
        </p:nvSpPr>
        <p:spPr>
          <a:xfrm xmlns:a="http://schemas.openxmlformats.org/drawingml/2006/main">
            <a:off x="609600" y="5038725"/>
            <a:ext cx="1076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112F3A"/>
                </a:solidFill>
                <a:latin typeface="Arial"/>
                <a:ea typeface="Arial"/>
                <a:cs typeface="Arial"/>
              </a:defRPr>
            </a:defPPr>
          </a:lstStyle>
          <a:p xmlns:a="http://schemas.openxmlformats.org/drawingml/2006/main">
            <a:pPr>
              <a:defRPr sz="2100" b="1">
                <a:solidFill>
                  <a:srgbClr val="112F3A"/>
                </a:solidFill>
                <a:latin typeface="Arial"/>
                <a:ea typeface="Arial"/>
                <a:cs typeface="Arial"/>
              </a:defRPr>
            </a:pPr>
            <a:r>
              <a:rPr sz="2100" b="1">
                <a:solidFill>
                  <a:srgbClr val="112F3A"/>
                </a:solidFill>
                <a:latin typeface="Arial"/>
                <a:ea typeface="Arial"/>
                <a:cs typeface="Arial"/>
              </a:rPr>
              <a:t>03  SQLite ou PostgreSQL, consultas SQL e agregados para o site</a:t>
            </a:r>
          </a:p>
        </p:txBody>
      </p:sp>
    </p:spTree>
    <p:extLst>
      <p:ext uri="{BB962C8B-B14F-4D97-AF65-F5344CB8AC3E}">
        <p14:creationId xmlns:p14="http://schemas.microsoft.com/office/powerpoint/2010/main" val="1890773964"/>
      </p:ext>
    </p:extLst>
  </p:cSld>
</p:sld>
</file>

<file path=ppt/slides/slide4.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B746A5B-F1D5-4246-A38F-080205C748CC}"/>
              </a:ext>
            </a:extLst>
          </p:cNvPr>
          <p:cNvSpPr>
            <a:spLocks xmlns:a="http://schemas.openxmlformats.org/drawingml/2006/main" noGrp="1"/>
          </p:cNvSpPr>
          <p:nvPr/>
        </p:nvSpPr>
        <p:spPr>
          <a:xfrm xmlns:a="http://schemas.openxmlformats.org/drawingml/2006/main">
            <a:off x="609600" y="3619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1">
                <a:solidFill>
                  <a:srgbClr val="157868"/>
                </a:solidFill>
                <a:latin typeface="Arial"/>
                <a:ea typeface="Arial"/>
                <a:cs typeface="Arial"/>
              </a:defRPr>
            </a:defPPr>
          </a:lstStyle>
          <a:p xmlns:a="http://schemas.openxmlformats.org/drawingml/2006/main">
            <a:pPr>
              <a:defRPr sz="1200" b="1">
                <a:solidFill>
                  <a:srgbClr val="157868"/>
                </a:solidFill>
                <a:latin typeface="Arial"/>
                <a:ea typeface="Arial"/>
                <a:cs typeface="Arial"/>
              </a:defRPr>
            </a:pPr>
            <a:r>
              <a:rPr sz="1200" b="1">
                <a:solidFill>
                  <a:srgbClr val="157868"/>
                </a:solidFill>
                <a:latin typeface="Arial"/>
                <a:ea typeface="Arial"/>
                <a:cs typeface="Arial"/>
              </a:rPr>
              <a:t>PESSOAS E CUSTOS</a:t>
            </a:r>
          </a:p>
        </p:txBody>
      </p:sp>
      <p:sp>
        <p:nvSpPr>
          <p:cNvPr id="2" name="">
            <a:extLst xmlns:a="http://schemas.openxmlformats.org/drawingml/2006/main">
              <a:ext uri="{FF2B5EF4-FFF2-40B4-BE49-F238E27FC236}">
                <a16:creationId xmlns:a16="http://schemas.microsoft.com/office/drawing/2014/main" id="{3712B363-D7D6-405B-9938-4AA0FE86A940}"/>
              </a:ext>
            </a:extLst>
          </p:cNvPr>
          <p:cNvSpPr>
            <a:spLocks xmlns:a="http://schemas.openxmlformats.org/drawingml/2006/main" noGrp="1"/>
          </p:cNvSpPr>
          <p:nvPr/>
        </p:nvSpPr>
        <p:spPr>
          <a:xfrm xmlns:a="http://schemas.openxmlformats.org/drawingml/2006/main">
            <a:off x="609600" y="914400"/>
            <a:ext cx="10858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450" b="1">
                <a:solidFill>
                  <a:srgbClr val="112F3A"/>
                </a:solidFill>
                <a:latin typeface="Arial"/>
                <a:ea typeface="Arial"/>
                <a:cs typeface="Arial"/>
              </a:defRPr>
            </a:defPPr>
          </a:lstStyle>
          <a:p xmlns:a="http://schemas.openxmlformats.org/drawingml/2006/main">
            <a:pPr>
              <a:defRPr sz="3450" b="1">
                <a:solidFill>
                  <a:srgbClr val="112F3A"/>
                </a:solidFill>
                <a:latin typeface="Arial"/>
                <a:ea typeface="Arial"/>
                <a:cs typeface="Arial"/>
              </a:defRPr>
            </a:pPr>
            <a:r>
              <a:rPr sz="3450" b="1">
                <a:solidFill>
                  <a:srgbClr val="112F3A"/>
                </a:solidFill>
                <a:latin typeface="Arial"/>
                <a:ea typeface="Arial"/>
                <a:cs typeface="Arial"/>
              </a:rPr>
              <a:t>O quadro fecha junho com 204 pessoas</a:t>
            </a:r>
          </a:p>
        </p:txBody>
      </p:sp>
      <p:sp>
        <p:nvSpPr>
          <p:cNvPr id="3" name="">
            <a:extLst xmlns:a="http://schemas.openxmlformats.org/drawingml/2006/main">
              <a:ext uri="{FF2B5EF4-FFF2-40B4-BE49-F238E27FC236}">
                <a16:creationId xmlns:a16="http://schemas.microsoft.com/office/drawing/2014/main" id="{0848801C-C73A-42B8-8DFD-FF5619EE811A}"/>
              </a:ext>
            </a:extLst>
          </p:cNvPr>
          <p:cNvSpPr>
            <a:spLocks xmlns:a="http://schemas.openxmlformats.org/drawingml/2006/main" noGrp="1"/>
          </p:cNvSpPr>
          <p:nvPr/>
        </p:nvSpPr>
        <p:spPr>
          <a:xfrm xmlns:a="http://schemas.openxmlformats.org/drawingml/2006/main">
            <a:off x="609600" y="63817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2656A"/>
                </a:solidFill>
                <a:latin typeface="Arial"/>
                <a:ea typeface="Arial"/>
                <a:cs typeface="Arial"/>
              </a:defRPr>
            </a:defPPr>
          </a:lstStyle>
          <a:p xmlns:a="http://schemas.openxmlformats.org/drawingml/2006/main">
            <a:pPr>
              <a:defRPr sz="975" b="0">
                <a:solidFill>
                  <a:srgbClr val="52656A"/>
                </a:solidFill>
                <a:latin typeface="Arial"/>
                <a:ea typeface="Arial"/>
                <a:cs typeface="Arial"/>
              </a:defRPr>
            </a:pPr>
            <a:r>
              <a:rPr sz="975" b="0">
                <a:solidFill>
                  <a:srgbClr val="52656A"/>
                </a:solidFill>
                <a:latin typeface="Arial"/>
                <a:ea typeface="Arial"/>
                <a:cs typeface="Arial"/>
              </a:rPr>
              <a:t>PRODUTIVIDADE  /  DADOS 100% SINTÉTICOS  /  JAN–JUN 2025</a:t>
            </a:r>
          </a:p>
        </p:txBody>
      </p:sp>
      <p:sp>
        <p:nvSpPr>
          <p:cNvPr id="4" name="">
            <a:extLst xmlns:a="http://schemas.openxmlformats.org/drawingml/2006/main">
              <a:ext uri="{FF2B5EF4-FFF2-40B4-BE49-F238E27FC236}">
                <a16:creationId xmlns:a16="http://schemas.microsoft.com/office/drawing/2014/main" id="{7042B37A-B6F9-4E11-8987-ED1D7D70FDEE}"/>
              </a:ext>
            </a:extLst>
          </p:cNvPr>
          <p:cNvSpPr>
            <a:spLocks xmlns:a="http://schemas.openxmlformats.org/drawingml/2006/main" noGrp="1"/>
          </p:cNvSpPr>
          <p:nvPr/>
        </p:nvSpPr>
        <p:spPr>
          <a:xfrm xmlns:a="http://schemas.openxmlformats.org/drawingml/2006/main">
            <a:off x="11049000" y="6353175"/>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57868"/>
                </a:solidFill>
                <a:latin typeface="Arial"/>
                <a:ea typeface="Arial"/>
                <a:cs typeface="Arial"/>
              </a:defRPr>
            </a:defPPr>
          </a:lstStyle>
          <a:p xmlns:a="http://schemas.openxmlformats.org/drawingml/2006/main">
            <a:pPr>
              <a:defRPr sz="1275" b="0">
                <a:solidFill>
                  <a:srgbClr val="157868"/>
                </a:solidFill>
                <a:latin typeface="Arial"/>
                <a:ea typeface="Arial"/>
                <a:cs typeface="Arial"/>
              </a:defRPr>
            </a:pPr>
            <a:r>
              <a:rPr sz="1275" b="0">
                <a:solidFill>
                  <a:srgbClr val="157868"/>
                </a:solidFill>
                <a:latin typeface="Arial"/>
                <a:ea typeface="Arial"/>
                <a:cs typeface="Arial"/>
              </a:rPr>
              <a:t>04</a:t>
            </a:r>
          </a:p>
        </p:txBody>
      </p:sp>
      <p:graphicFrame>
        <p:nvGraphicFramePr>
          <p:cNvPr id="5" name="Chart">
            <a:extLst xmlns:a="http://schemas.openxmlformats.org/drawingml/2006/main">
              <a:ext uri="{FF2B5EF4-FFF2-40B4-BE49-F238E27FC236}">
                <a16:creationId xmlns:a16="http://schemas.microsoft.com/office/drawing/2014/main" id="{9AB7D589-B4E4-449D-BB3C-AD290AA0D084}"/>
              </a:ext>
            </a:extLst>
          </p:cNvPr>
          <p:cNvGraphicFramePr/>
          <p:nvPr/>
        </p:nvGraphicFramePr>
        <p:xfrm>
          <a:off xmlns:a="http://schemas.openxmlformats.org/drawingml/2006/main" x="571500" y="2247900"/>
          <a:ext xmlns:a="http://schemas.openxmlformats.org/drawingml/2006/main" cx="6762750" cy="3381375"/>
        </p:xfrm>
        <a:graphic xmlns:a="http://schemas.openxmlformats.org/drawingml/2006/main">
          <a:graphicData uri="http://schemas.openxmlformats.org/drawingml/2006/chart">
            <c:chart xmlns:r="http://schemas.openxmlformats.org/officeDocument/2006/relationships" xmlns:c="http://schemas.openxmlformats.org/drawingml/2006/chart" r:id="R1775c1274cb24e1c"/>
          </a:graphicData>
        </a:graphic>
      </p:graphicFrame>
      <p:sp>
        <p:nvSpPr>
          <p:cNvPr id="6" name="">
            <a:extLst xmlns:a="http://schemas.openxmlformats.org/drawingml/2006/main">
              <a:ext uri="{FF2B5EF4-FFF2-40B4-BE49-F238E27FC236}">
                <a16:creationId xmlns:a16="http://schemas.microsoft.com/office/drawing/2014/main" id="{F615AD50-564A-4868-9925-F51036348F74}"/>
              </a:ext>
            </a:extLst>
          </p:cNvPr>
          <p:cNvSpPr>
            <a:spLocks xmlns:a="http://schemas.openxmlformats.org/drawingml/2006/main" noGrp="1"/>
          </p:cNvSpPr>
          <p:nvPr/>
        </p:nvSpPr>
        <p:spPr>
          <a:xfrm xmlns:a="http://schemas.openxmlformats.org/drawingml/2006/main">
            <a:off x="7791450" y="2495550"/>
            <a:ext cx="371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157868"/>
                </a:solidFill>
                <a:latin typeface="Arial"/>
                <a:ea typeface="Arial"/>
                <a:cs typeface="Arial"/>
              </a:defRPr>
            </a:defPPr>
          </a:lstStyle>
          <a:p xmlns:a="http://schemas.openxmlformats.org/drawingml/2006/main">
            <a:pPr>
              <a:defRPr sz="2400" b="1">
                <a:solidFill>
                  <a:srgbClr val="157868"/>
                </a:solidFill>
                <a:latin typeface="Arial"/>
                <a:ea typeface="Arial"/>
                <a:cs typeface="Arial"/>
              </a:defRPr>
            </a:pPr>
            <a:r>
              <a:rPr sz="2400" b="1">
                <a:solidFill>
                  <a:srgbClr val="157868"/>
                </a:solidFill>
                <a:latin typeface="Arial"/>
                <a:ea typeface="Arial"/>
                <a:cs typeface="Arial"/>
              </a:rPr>
              <a:t>210 + 30 − 36 = 204</a:t>
            </a:r>
          </a:p>
        </p:txBody>
      </p:sp>
      <p:sp>
        <p:nvSpPr>
          <p:cNvPr id="7" name="">
            <a:extLst xmlns:a="http://schemas.openxmlformats.org/drawingml/2006/main">
              <a:ext uri="{FF2B5EF4-FFF2-40B4-BE49-F238E27FC236}">
                <a16:creationId xmlns:a16="http://schemas.microsoft.com/office/drawing/2014/main" id="{97541151-E039-4D35-B5CA-4EA9E9873371}"/>
              </a:ext>
            </a:extLst>
          </p:cNvPr>
          <p:cNvSpPr>
            <a:spLocks xmlns:a="http://schemas.openxmlformats.org/drawingml/2006/main" noGrp="1"/>
          </p:cNvSpPr>
          <p:nvPr/>
        </p:nvSpPr>
        <p:spPr>
          <a:xfrm xmlns:a="http://schemas.openxmlformats.org/drawingml/2006/main">
            <a:off x="7791450" y="3219450"/>
            <a:ext cx="3714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112F3A"/>
                </a:solidFill>
                <a:latin typeface="Arial"/>
                <a:ea typeface="Arial"/>
                <a:cs typeface="Arial"/>
              </a:defRPr>
            </a:defPPr>
          </a:lstStyle>
          <a:p xmlns:a="http://schemas.openxmlformats.org/drawingml/2006/main">
            <a:pPr>
              <a:defRPr sz="1875" b="0">
                <a:solidFill>
                  <a:srgbClr val="112F3A"/>
                </a:solidFill>
                <a:latin typeface="Arial"/>
                <a:ea typeface="Arial"/>
                <a:cs typeface="Arial"/>
              </a:defRPr>
            </a:pPr>
            <a:r>
              <a:rPr sz="1875" b="0">
                <a:solidFill>
                  <a:srgbClr val="112F3A"/>
                </a:solidFill>
                <a:latin typeface="Arial"/>
                <a:ea typeface="Arial"/>
                <a:cs typeface="Arial"/>
              </a:rPr>
              <a:t>Abertura de janeiro</a:t>
            </a:r>
          </a:p>
          <a:p xmlns:a="http://schemas.openxmlformats.org/drawingml/2006/main">
            <a:pPr>
              <a:defRPr sz="1875" b="0">
                <a:solidFill>
                  <a:srgbClr val="112F3A"/>
                </a:solidFill>
                <a:latin typeface="Arial"/>
                <a:ea typeface="Arial"/>
                <a:cs typeface="Arial"/>
              </a:defRPr>
            </a:pPr>
            <a:r>
              <a:rPr sz="1875" b="0">
                <a:solidFill>
                  <a:srgbClr val="112F3A"/>
                </a:solidFill>
                <a:latin typeface="Arial"/>
                <a:ea typeface="Arial"/>
                <a:cs typeface="Arial"/>
              </a:rPr>
              <a:t>+ admissões no semestre</a:t>
            </a:r>
          </a:p>
          <a:p xmlns:a="http://schemas.openxmlformats.org/drawingml/2006/main">
            <a:pPr>
              <a:defRPr sz="1875" b="0">
                <a:solidFill>
                  <a:srgbClr val="112F3A"/>
                </a:solidFill>
                <a:latin typeface="Arial"/>
                <a:ea typeface="Arial"/>
                <a:cs typeface="Arial"/>
              </a:defRPr>
            </a:pPr>
            <a:r>
              <a:rPr sz="1875" b="0">
                <a:solidFill>
                  <a:srgbClr val="112F3A"/>
                </a:solidFill>
                <a:latin typeface="Arial"/>
                <a:ea typeface="Arial"/>
                <a:cs typeface="Arial"/>
              </a:rPr>
              <a:t>− desligamentos no semestre</a:t>
            </a:r>
          </a:p>
          <a:p xmlns:a="http://schemas.openxmlformats.org/drawingml/2006/main">
            <a:pPr>
              <a:defRPr sz="1875" b="0">
                <a:solidFill>
                  <a:srgbClr val="112F3A"/>
                </a:solidFill>
                <a:latin typeface="Arial"/>
                <a:ea typeface="Arial"/>
                <a:cs typeface="Arial"/>
              </a:defRPr>
            </a:pPr>
            <a:r>
              <a:rPr sz="1875" b="0">
                <a:solidFill>
                  <a:srgbClr val="112F3A"/>
                </a:solidFill>
                <a:latin typeface="Arial"/>
                <a:ea typeface="Arial"/>
                <a:cs typeface="Arial"/>
              </a:rPr>
              <a:t>= fechamento de junho</a:t>
            </a:r>
          </a:p>
        </p:txBody>
      </p:sp>
      <p:sp>
        <p:nvSpPr>
          <p:cNvPr id="8" name="">
            <a:extLst xmlns:a="http://schemas.openxmlformats.org/drawingml/2006/main">
              <a:ext uri="{FF2B5EF4-FFF2-40B4-BE49-F238E27FC236}">
                <a16:creationId xmlns:a16="http://schemas.microsoft.com/office/drawing/2014/main" id="{1910DA07-FF9E-4DF1-A39A-8C7F5FA1DF41}"/>
              </a:ext>
            </a:extLst>
          </p:cNvPr>
          <p:cNvSpPr>
            <a:spLocks xmlns:a="http://schemas.openxmlformats.org/drawingml/2006/main" noGrp="1"/>
          </p:cNvSpPr>
          <p:nvPr/>
        </p:nvSpPr>
        <p:spPr>
          <a:xfrm xmlns:a="http://schemas.openxmlformats.org/drawingml/2006/main">
            <a:off x="7791450" y="5267325"/>
            <a:ext cx="3714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112F3A"/>
                </a:solidFill>
                <a:latin typeface="Arial"/>
                <a:ea typeface="Arial"/>
                <a:cs typeface="Arial"/>
              </a:defRPr>
            </a:defPPr>
          </a:lstStyle>
          <a:p xmlns:a="http://schemas.openxmlformats.org/drawingml/2006/main">
            <a:pPr>
              <a:defRPr sz="1650" b="0">
                <a:solidFill>
                  <a:srgbClr val="112F3A"/>
                </a:solidFill>
                <a:latin typeface="Arial"/>
                <a:ea typeface="Arial"/>
                <a:cs typeface="Arial"/>
              </a:defRPr>
            </a:pPr>
            <a:r>
              <a:rPr sz="1650" b="0">
                <a:solidFill>
                  <a:srgbClr val="112F3A"/>
                </a:solidFill>
                <a:latin typeface="Arial"/>
                <a:ea typeface="Arial"/>
                <a:cs typeface="Arial"/>
              </a:rPr>
              <a:t>Folha de junho: R$ 1,35 milhão</a:t>
            </a:r>
          </a:p>
          <a:p xmlns:a="http://schemas.openxmlformats.org/drawingml/2006/main">
            <a:pPr>
              <a:defRPr sz="1650" b="0">
                <a:solidFill>
                  <a:srgbClr val="112F3A"/>
                </a:solidFill>
                <a:latin typeface="Arial"/>
                <a:ea typeface="Arial"/>
                <a:cs typeface="Arial"/>
              </a:defRPr>
            </a:pPr>
            <a:r>
              <a:rPr sz="1650" b="0">
                <a:solidFill>
                  <a:srgbClr val="112F3A"/>
                </a:solidFill>
                <a:latin typeface="Arial"/>
                <a:ea typeface="Arial"/>
                <a:cs typeface="Arial"/>
              </a:rPr>
              <a:t>Salário-base simulado, sem encargos</a:t>
            </a:r>
          </a:p>
        </p:txBody>
      </p:sp>
    </p:spTree>
    <p:extLst>
      <p:ext uri="{BB962C8B-B14F-4D97-AF65-F5344CB8AC3E}">
        <p14:creationId xmlns:p14="http://schemas.microsoft.com/office/powerpoint/2010/main" val="904047919"/>
      </p:ext>
    </p:extLst>
  </p:cSld>
</p:sld>
</file>

<file path=ppt/slides/slide5.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1291264-9C13-444A-A3F1-31726F0F7FAE}"/>
              </a:ext>
            </a:extLst>
          </p:cNvPr>
          <p:cNvSpPr>
            <a:spLocks xmlns:a="http://schemas.openxmlformats.org/drawingml/2006/main" noGrp="1"/>
          </p:cNvSpPr>
          <p:nvPr/>
        </p:nvSpPr>
        <p:spPr>
          <a:xfrm xmlns:a="http://schemas.openxmlformats.org/drawingml/2006/main">
            <a:off x="609600" y="3619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1">
                <a:solidFill>
                  <a:srgbClr val="157868"/>
                </a:solidFill>
                <a:latin typeface="Arial"/>
                <a:ea typeface="Arial"/>
                <a:cs typeface="Arial"/>
              </a:defRPr>
            </a:defPPr>
          </a:lstStyle>
          <a:p xmlns:a="http://schemas.openxmlformats.org/drawingml/2006/main">
            <a:pPr>
              <a:defRPr sz="1200" b="1">
                <a:solidFill>
                  <a:srgbClr val="157868"/>
                </a:solidFill>
                <a:latin typeface="Arial"/>
                <a:ea typeface="Arial"/>
                <a:cs typeface="Arial"/>
              </a:defRPr>
            </a:pPr>
            <a:r>
              <a:rPr sz="1200" b="1">
                <a:solidFill>
                  <a:srgbClr val="157868"/>
                </a:solidFill>
                <a:latin typeface="Arial"/>
                <a:ea typeface="Arial"/>
                <a:cs typeface="Arial"/>
              </a:rPr>
              <a:t>COBERTURA DOS DADOS</a:t>
            </a:r>
          </a:p>
        </p:txBody>
      </p:sp>
      <p:sp>
        <p:nvSpPr>
          <p:cNvPr id="2" name="">
            <a:extLst xmlns:a="http://schemas.openxmlformats.org/drawingml/2006/main">
              <a:ext uri="{FF2B5EF4-FFF2-40B4-BE49-F238E27FC236}">
                <a16:creationId xmlns:a16="http://schemas.microsoft.com/office/drawing/2014/main" id="{FA2F649B-5AE8-44AD-AF39-F96B2903F6BA}"/>
              </a:ext>
            </a:extLst>
          </p:cNvPr>
          <p:cNvSpPr>
            <a:spLocks xmlns:a="http://schemas.openxmlformats.org/drawingml/2006/main" noGrp="1"/>
          </p:cNvSpPr>
          <p:nvPr/>
        </p:nvSpPr>
        <p:spPr>
          <a:xfrm xmlns:a="http://schemas.openxmlformats.org/drawingml/2006/main">
            <a:off x="609600" y="914400"/>
            <a:ext cx="10858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450" b="1">
                <a:solidFill>
                  <a:srgbClr val="112F3A"/>
                </a:solidFill>
                <a:latin typeface="Arial"/>
                <a:ea typeface="Arial"/>
                <a:cs typeface="Arial"/>
              </a:defRPr>
            </a:defPPr>
          </a:lstStyle>
          <a:p xmlns:a="http://schemas.openxmlformats.org/drawingml/2006/main">
            <a:pPr>
              <a:defRPr sz="3450" b="1">
                <a:solidFill>
                  <a:srgbClr val="112F3A"/>
                </a:solidFill>
                <a:latin typeface="Arial"/>
                <a:ea typeface="Arial"/>
                <a:cs typeface="Arial"/>
              </a:defRPr>
            </a:pPr>
            <a:r>
              <a:rPr sz="3450" b="1">
                <a:solidFill>
                  <a:srgbClr val="112F3A"/>
                </a:solidFill>
                <a:latin typeface="Arial"/>
                <a:ea typeface="Arial"/>
                <a:cs typeface="Arial"/>
              </a:rPr>
              <a:t>O mapeamento avança 23,1 pontos percentuais</a:t>
            </a:r>
          </a:p>
        </p:txBody>
      </p:sp>
      <p:sp>
        <p:nvSpPr>
          <p:cNvPr id="3" name="">
            <a:extLst xmlns:a="http://schemas.openxmlformats.org/drawingml/2006/main">
              <a:ext uri="{FF2B5EF4-FFF2-40B4-BE49-F238E27FC236}">
                <a16:creationId xmlns:a16="http://schemas.microsoft.com/office/drawing/2014/main" id="{F3B75E7C-B07C-477A-A7DE-F88DB78F0E68}"/>
              </a:ext>
            </a:extLst>
          </p:cNvPr>
          <p:cNvSpPr>
            <a:spLocks xmlns:a="http://schemas.openxmlformats.org/drawingml/2006/main" noGrp="1"/>
          </p:cNvSpPr>
          <p:nvPr/>
        </p:nvSpPr>
        <p:spPr>
          <a:xfrm xmlns:a="http://schemas.openxmlformats.org/drawingml/2006/main">
            <a:off x="609600" y="63817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2656A"/>
                </a:solidFill>
                <a:latin typeface="Arial"/>
                <a:ea typeface="Arial"/>
                <a:cs typeface="Arial"/>
              </a:defRPr>
            </a:defPPr>
          </a:lstStyle>
          <a:p xmlns:a="http://schemas.openxmlformats.org/drawingml/2006/main">
            <a:pPr>
              <a:defRPr sz="975" b="0">
                <a:solidFill>
                  <a:srgbClr val="52656A"/>
                </a:solidFill>
                <a:latin typeface="Arial"/>
                <a:ea typeface="Arial"/>
                <a:cs typeface="Arial"/>
              </a:defRPr>
            </a:pPr>
            <a:r>
              <a:rPr sz="975" b="0">
                <a:solidFill>
                  <a:srgbClr val="52656A"/>
                </a:solidFill>
                <a:latin typeface="Arial"/>
                <a:ea typeface="Arial"/>
                <a:cs typeface="Arial"/>
              </a:rPr>
              <a:t>PRODUTIVIDADE  /  DADOS 100% SINTÉTICOS  /  JAN–JUN 2025</a:t>
            </a:r>
          </a:p>
        </p:txBody>
      </p:sp>
      <p:sp>
        <p:nvSpPr>
          <p:cNvPr id="4" name="">
            <a:extLst xmlns:a="http://schemas.openxmlformats.org/drawingml/2006/main">
              <a:ext uri="{FF2B5EF4-FFF2-40B4-BE49-F238E27FC236}">
                <a16:creationId xmlns:a16="http://schemas.microsoft.com/office/drawing/2014/main" id="{4DB187FB-226E-450E-995D-4B5BB33051FF}"/>
              </a:ext>
            </a:extLst>
          </p:cNvPr>
          <p:cNvSpPr>
            <a:spLocks xmlns:a="http://schemas.openxmlformats.org/drawingml/2006/main" noGrp="1"/>
          </p:cNvSpPr>
          <p:nvPr/>
        </p:nvSpPr>
        <p:spPr>
          <a:xfrm xmlns:a="http://schemas.openxmlformats.org/drawingml/2006/main">
            <a:off x="11049000" y="6353175"/>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57868"/>
                </a:solidFill>
                <a:latin typeface="Arial"/>
                <a:ea typeface="Arial"/>
                <a:cs typeface="Arial"/>
              </a:defRPr>
            </a:defPPr>
          </a:lstStyle>
          <a:p xmlns:a="http://schemas.openxmlformats.org/drawingml/2006/main">
            <a:pPr>
              <a:defRPr sz="1275" b="0">
                <a:solidFill>
                  <a:srgbClr val="157868"/>
                </a:solidFill>
                <a:latin typeface="Arial"/>
                <a:ea typeface="Arial"/>
                <a:cs typeface="Arial"/>
              </a:defRPr>
            </a:pPr>
            <a:r>
              <a:rPr sz="1275" b="0">
                <a:solidFill>
                  <a:srgbClr val="157868"/>
                </a:solidFill>
                <a:latin typeface="Arial"/>
                <a:ea typeface="Arial"/>
                <a:cs typeface="Arial"/>
              </a:rPr>
              <a:t>05</a:t>
            </a:r>
          </a:p>
        </p:txBody>
      </p:sp>
      <p:graphicFrame>
        <p:nvGraphicFramePr>
          <p:cNvPr id="5" name="Chart">
            <a:extLst xmlns:a="http://schemas.openxmlformats.org/drawingml/2006/main">
              <a:ext uri="{FF2B5EF4-FFF2-40B4-BE49-F238E27FC236}">
                <a16:creationId xmlns:a16="http://schemas.microsoft.com/office/drawing/2014/main" id="{E6451A5E-E8F0-4863-9ED4-2C1F2B274B62}"/>
              </a:ext>
            </a:extLst>
          </p:cNvPr>
          <p:cNvGraphicFramePr/>
          <p:nvPr/>
        </p:nvGraphicFramePr>
        <p:xfrm>
          <a:off xmlns:a="http://schemas.openxmlformats.org/drawingml/2006/main" x="571500" y="2238375"/>
          <a:ext xmlns:a="http://schemas.openxmlformats.org/drawingml/2006/main" cx="6858000" cy="3476625"/>
        </p:xfrm>
        <a:graphic xmlns:a="http://schemas.openxmlformats.org/drawingml/2006/main">
          <a:graphicData uri="http://schemas.openxmlformats.org/drawingml/2006/chart">
            <c:chart xmlns:r="http://schemas.openxmlformats.org/officeDocument/2006/relationships" xmlns:c="http://schemas.openxmlformats.org/drawingml/2006/chart" r:id="Rd528c4730b0e4c8e"/>
          </a:graphicData>
        </a:graphic>
      </p:graphicFrame>
      <p:sp>
        <p:nvSpPr>
          <p:cNvPr id="6" name="">
            <a:extLst xmlns:a="http://schemas.openxmlformats.org/drawingml/2006/main">
              <a:ext uri="{FF2B5EF4-FFF2-40B4-BE49-F238E27FC236}">
                <a16:creationId xmlns:a16="http://schemas.microsoft.com/office/drawing/2014/main" id="{23475CC8-838A-40EF-8ED5-62470EF7F7C1}"/>
              </a:ext>
            </a:extLst>
          </p:cNvPr>
          <p:cNvSpPr>
            <a:spLocks xmlns:a="http://schemas.openxmlformats.org/drawingml/2006/main" noGrp="1"/>
          </p:cNvSpPr>
          <p:nvPr/>
        </p:nvSpPr>
        <p:spPr>
          <a:xfrm xmlns:a="http://schemas.openxmlformats.org/drawingml/2006/main">
            <a:off x="7858125" y="2409825"/>
            <a:ext cx="3619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925" b="1">
                <a:solidFill>
                  <a:srgbClr val="157868"/>
                </a:solidFill>
                <a:latin typeface="Arial"/>
                <a:ea typeface="Arial"/>
                <a:cs typeface="Arial"/>
              </a:defRPr>
            </a:defPPr>
          </a:lstStyle>
          <a:p xmlns:a="http://schemas.openxmlformats.org/drawingml/2006/main">
            <a:pPr>
              <a:defRPr sz="2925" b="1">
                <a:solidFill>
                  <a:srgbClr val="157868"/>
                </a:solidFill>
                <a:latin typeface="Arial"/>
                <a:ea typeface="Arial"/>
                <a:cs typeface="Arial"/>
              </a:defRPr>
            </a:pPr>
            <a:r>
              <a:rPr sz="2925" b="1">
                <a:solidFill>
                  <a:srgbClr val="157868"/>
                </a:solidFill>
                <a:latin typeface="Arial"/>
                <a:ea typeface="Arial"/>
                <a:cs typeface="Arial"/>
              </a:rPr>
              <a:t>70,7% a 93,8%</a:t>
            </a:r>
          </a:p>
        </p:txBody>
      </p:sp>
      <p:sp>
        <p:nvSpPr>
          <p:cNvPr id="7" name="">
            <a:extLst xmlns:a="http://schemas.openxmlformats.org/drawingml/2006/main">
              <a:ext uri="{FF2B5EF4-FFF2-40B4-BE49-F238E27FC236}">
                <a16:creationId xmlns:a16="http://schemas.microsoft.com/office/drawing/2014/main" id="{003213C1-32C6-40A6-B81C-869C32DDAB25}"/>
              </a:ext>
            </a:extLst>
          </p:cNvPr>
          <p:cNvSpPr>
            <a:spLocks xmlns:a="http://schemas.openxmlformats.org/drawingml/2006/main" noGrp="1"/>
          </p:cNvSpPr>
          <p:nvPr/>
        </p:nvSpPr>
        <p:spPr>
          <a:xfrm xmlns:a="http://schemas.openxmlformats.org/drawingml/2006/main">
            <a:off x="7858125" y="3333750"/>
            <a:ext cx="3619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112F3A"/>
                </a:solidFill>
                <a:latin typeface="Arial"/>
                <a:ea typeface="Arial"/>
                <a:cs typeface="Arial"/>
              </a:defRPr>
            </a:defPPr>
          </a:lstStyle>
          <a:p xmlns:a="http://schemas.openxmlformats.org/drawingml/2006/main">
            <a:pPr>
              <a:defRPr sz="1950" b="0">
                <a:solidFill>
                  <a:srgbClr val="112F3A"/>
                </a:solidFill>
                <a:latin typeface="Arial"/>
                <a:ea typeface="Arial"/>
                <a:cs typeface="Arial"/>
              </a:defRPr>
            </a:pPr>
            <a:r>
              <a:rPr sz="1950" b="0">
                <a:solidFill>
                  <a:srgbClr val="112F3A"/>
                </a:solidFill>
                <a:latin typeface="Arial"/>
                <a:ea typeface="Arial"/>
                <a:cs typeface="Arial"/>
              </a:rPr>
              <a:t>152/215 pessoas em janeiro</a:t>
            </a:r>
          </a:p>
          <a:p xmlns:a="http://schemas.openxmlformats.org/drawingml/2006/main">
            <a:pPr>
              <a:defRPr sz="1950" b="0">
                <a:solidFill>
                  <a:srgbClr val="112F3A"/>
                </a:solidFill>
                <a:latin typeface="Arial"/>
                <a:ea typeface="Arial"/>
                <a:cs typeface="Arial"/>
              </a:defRPr>
            </a:pPr>
            <a:r>
              <a:rPr sz="1950" b="0">
                <a:solidFill>
                  <a:srgbClr val="112F3A"/>
                </a:solidFill>
                <a:latin typeface="Arial"/>
                <a:ea typeface="Arial"/>
                <a:cs typeface="Arial"/>
              </a:rPr>
              <a:t>196/209 pessoas em junho</a:t>
            </a:r>
          </a:p>
        </p:txBody>
      </p:sp>
      <p:sp>
        <p:nvSpPr>
          <p:cNvPr id="8" name="">
            <a:extLst xmlns:a="http://schemas.openxmlformats.org/drawingml/2006/main">
              <a:ext uri="{FF2B5EF4-FFF2-40B4-BE49-F238E27FC236}">
                <a16:creationId xmlns:a16="http://schemas.microsoft.com/office/drawing/2014/main" id="{277C853D-7EE1-4CAD-99C1-27DD209A41F2}"/>
              </a:ext>
            </a:extLst>
          </p:cNvPr>
          <p:cNvSpPr>
            <a:spLocks xmlns:a="http://schemas.openxmlformats.org/drawingml/2006/main" noGrp="1"/>
          </p:cNvSpPr>
          <p:nvPr/>
        </p:nvSpPr>
        <p:spPr>
          <a:xfrm xmlns:a="http://schemas.openxmlformats.org/drawingml/2006/main">
            <a:off x="7858125" y="4648200"/>
            <a:ext cx="3619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112F3A"/>
                </a:solidFill>
                <a:latin typeface="Arial"/>
                <a:ea typeface="Arial"/>
                <a:cs typeface="Arial"/>
              </a:defRPr>
            </a:defPPr>
          </a:lstStyle>
          <a:p xmlns:a="http://schemas.openxmlformats.org/drawingml/2006/main">
            <a:pPr>
              <a:defRPr sz="1875" b="0">
                <a:solidFill>
                  <a:srgbClr val="112F3A"/>
                </a:solidFill>
                <a:latin typeface="Arial"/>
                <a:ea typeface="Arial"/>
                <a:cs typeface="Arial"/>
              </a:defRPr>
            </a:pPr>
            <a:r>
              <a:rPr sz="1875" b="0">
                <a:solidFill>
                  <a:srgbClr val="112F3A"/>
                </a:solidFill>
                <a:latin typeface="Arial"/>
                <a:ea typeface="Arial"/>
                <a:cs typeface="Arial"/>
              </a:rPr>
              <a:t>A evolução é programada</a:t>
            </a:r>
          </a:p>
          <a:p xmlns:a="http://schemas.openxmlformats.org/drawingml/2006/main">
            <a:pPr>
              <a:defRPr sz="1875" b="0">
                <a:solidFill>
                  <a:srgbClr val="112F3A"/>
                </a:solidFill>
                <a:latin typeface="Arial"/>
                <a:ea typeface="Arial"/>
                <a:cs typeface="Arial"/>
              </a:defRPr>
            </a:pPr>
            <a:r>
              <a:rPr sz="1875" b="0">
                <a:solidFill>
                  <a:srgbClr val="112F3A"/>
                </a:solidFill>
                <a:latin typeface="Arial"/>
                <a:ea typeface="Arial"/>
                <a:cs typeface="Arial"/>
              </a:rPr>
              <a:t>no gerador. Não comprova</a:t>
            </a:r>
          </a:p>
          <a:p xmlns:a="http://schemas.openxmlformats.org/drawingml/2006/main">
            <a:pPr>
              <a:defRPr sz="1875" b="0">
                <a:solidFill>
                  <a:srgbClr val="112F3A"/>
                </a:solidFill>
                <a:latin typeface="Arial"/>
                <a:ea typeface="Arial"/>
                <a:cs typeface="Arial"/>
              </a:defRPr>
            </a:pPr>
            <a:r>
              <a:rPr sz="1875" b="0">
                <a:solidFill>
                  <a:srgbClr val="112F3A"/>
                </a:solidFill>
                <a:latin typeface="Arial"/>
                <a:ea typeface="Arial"/>
                <a:cs typeface="Arial"/>
              </a:rPr>
              <a:t>impacto de uma ação real.</a:t>
            </a:r>
          </a:p>
        </p:txBody>
      </p:sp>
    </p:spTree>
    <p:extLst>
      <p:ext uri="{BB962C8B-B14F-4D97-AF65-F5344CB8AC3E}">
        <p14:creationId xmlns:p14="http://schemas.microsoft.com/office/powerpoint/2010/main" val="373022630"/>
      </p:ext>
    </p:extLst>
  </p:cSld>
</p:sld>
</file>

<file path=ppt/slides/slide6.xml><?xml version="1.0" encoding="utf-8"?>
<p:sld xmlns:p="http://schemas.openxmlformats.org/presentationml/2006/main">
  <p:cSld>
    <p:bg>
      <p:bgPr>
        <a:solidFill xmlns:a="http://schemas.openxmlformats.org/drawingml/2006/main">
          <a:srgbClr val="112F3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ECDFCEE-9F37-4564-8F9F-0BBE729CEA2C}"/>
              </a:ext>
            </a:extLst>
          </p:cNvPr>
          <p:cNvSpPr>
            <a:spLocks xmlns:a="http://schemas.openxmlformats.org/drawingml/2006/main" noGrp="1"/>
          </p:cNvSpPr>
          <p:nvPr/>
        </p:nvSpPr>
        <p:spPr>
          <a:xfrm xmlns:a="http://schemas.openxmlformats.org/drawingml/2006/main">
            <a:off x="609600" y="3619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1">
                <a:solidFill>
                  <a:srgbClr val="D6F173"/>
                </a:solidFill>
                <a:latin typeface="Arial"/>
                <a:ea typeface="Arial"/>
                <a:cs typeface="Arial"/>
              </a:defRPr>
            </a:defPPr>
          </a:lstStyle>
          <a:p xmlns:a="http://schemas.openxmlformats.org/drawingml/2006/main">
            <a:pPr>
              <a:defRPr sz="1200" b="1">
                <a:solidFill>
                  <a:srgbClr val="D6F173"/>
                </a:solidFill>
                <a:latin typeface="Arial"/>
                <a:ea typeface="Arial"/>
                <a:cs typeface="Arial"/>
              </a:defRPr>
            </a:pPr>
            <a:r>
              <a:rPr sz="1200" b="1">
                <a:solidFill>
                  <a:srgbClr val="D6F173"/>
                </a:solidFill>
                <a:latin typeface="Arial"/>
                <a:ea typeface="Arial"/>
                <a:cs typeface="Arial"/>
              </a:rPr>
              <a:t>DECISÃO DEMONSTRATIVA</a:t>
            </a:r>
          </a:p>
        </p:txBody>
      </p:sp>
      <p:sp>
        <p:nvSpPr>
          <p:cNvPr id="2" name="">
            <a:extLst xmlns:a="http://schemas.openxmlformats.org/drawingml/2006/main">
              <a:ext uri="{FF2B5EF4-FFF2-40B4-BE49-F238E27FC236}">
                <a16:creationId xmlns:a16="http://schemas.microsoft.com/office/drawing/2014/main" id="{29C83A58-79AE-4D57-B6B5-FA9D1ED179F2}"/>
              </a:ext>
            </a:extLst>
          </p:cNvPr>
          <p:cNvSpPr>
            <a:spLocks xmlns:a="http://schemas.openxmlformats.org/drawingml/2006/main" noGrp="1"/>
          </p:cNvSpPr>
          <p:nvPr/>
        </p:nvSpPr>
        <p:spPr>
          <a:xfrm xmlns:a="http://schemas.openxmlformats.org/drawingml/2006/main">
            <a:off x="609600" y="914400"/>
            <a:ext cx="10858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450" b="1">
                <a:solidFill>
                  <a:srgbClr val="FFFFFF"/>
                </a:solidFill>
                <a:latin typeface="Arial"/>
                <a:ea typeface="Arial"/>
                <a:cs typeface="Arial"/>
              </a:defRPr>
            </a:defPPr>
          </a:lstStyle>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Cobertura vem antes da comparação</a:t>
            </a:r>
          </a:p>
        </p:txBody>
      </p:sp>
      <p:sp>
        <p:nvSpPr>
          <p:cNvPr id="3" name="">
            <a:extLst xmlns:a="http://schemas.openxmlformats.org/drawingml/2006/main">
              <a:ext uri="{FF2B5EF4-FFF2-40B4-BE49-F238E27FC236}">
                <a16:creationId xmlns:a16="http://schemas.microsoft.com/office/drawing/2014/main" id="{66CCC82F-EF6B-461E-AF71-23D4A3F23238}"/>
              </a:ext>
            </a:extLst>
          </p:cNvPr>
          <p:cNvSpPr>
            <a:spLocks xmlns:a="http://schemas.openxmlformats.org/drawingml/2006/main" noGrp="1"/>
          </p:cNvSpPr>
          <p:nvPr/>
        </p:nvSpPr>
        <p:spPr>
          <a:xfrm xmlns:a="http://schemas.openxmlformats.org/drawingml/2006/main">
            <a:off x="609600" y="63817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D0DCDE"/>
                </a:solidFill>
                <a:latin typeface="Arial"/>
                <a:ea typeface="Arial"/>
                <a:cs typeface="Arial"/>
              </a:defRPr>
            </a:defPPr>
          </a:lstStyle>
          <a:p xmlns:a="http://schemas.openxmlformats.org/drawingml/2006/main">
            <a:pPr>
              <a:defRPr sz="975" b="0">
                <a:solidFill>
                  <a:srgbClr val="D0DCDE"/>
                </a:solidFill>
                <a:latin typeface="Arial"/>
                <a:ea typeface="Arial"/>
                <a:cs typeface="Arial"/>
              </a:defRPr>
            </a:pPr>
            <a:r>
              <a:rPr sz="975" b="0">
                <a:solidFill>
                  <a:srgbClr val="D0DCDE"/>
                </a:solidFill>
                <a:latin typeface="Arial"/>
                <a:ea typeface="Arial"/>
                <a:cs typeface="Arial"/>
              </a:rPr>
              <a:t>PRODUTIVIDADE  /  DADOS 100% SINTÉTICOS  /  JAN–JUN 2025</a:t>
            </a:r>
          </a:p>
        </p:txBody>
      </p:sp>
      <p:sp>
        <p:nvSpPr>
          <p:cNvPr id="4" name="">
            <a:extLst xmlns:a="http://schemas.openxmlformats.org/drawingml/2006/main">
              <a:ext uri="{FF2B5EF4-FFF2-40B4-BE49-F238E27FC236}">
                <a16:creationId xmlns:a16="http://schemas.microsoft.com/office/drawing/2014/main" id="{4CAA767F-09ED-4AEF-A6A8-F609C45FC7E1}"/>
              </a:ext>
            </a:extLst>
          </p:cNvPr>
          <p:cNvSpPr>
            <a:spLocks xmlns:a="http://schemas.openxmlformats.org/drawingml/2006/main" noGrp="1"/>
          </p:cNvSpPr>
          <p:nvPr/>
        </p:nvSpPr>
        <p:spPr>
          <a:xfrm xmlns:a="http://schemas.openxmlformats.org/drawingml/2006/main">
            <a:off x="11049000" y="6353175"/>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D6F173"/>
                </a:solidFill>
                <a:latin typeface="Arial"/>
                <a:ea typeface="Arial"/>
                <a:cs typeface="Arial"/>
              </a:defRPr>
            </a:defPPr>
          </a:lstStyle>
          <a:p xmlns:a="http://schemas.openxmlformats.org/drawingml/2006/main">
            <a:pPr>
              <a:defRPr sz="1275" b="0">
                <a:solidFill>
                  <a:srgbClr val="D6F173"/>
                </a:solidFill>
                <a:latin typeface="Arial"/>
                <a:ea typeface="Arial"/>
                <a:cs typeface="Arial"/>
              </a:defRPr>
            </a:pPr>
            <a:r>
              <a:rPr sz="1275" b="0">
                <a:solidFill>
                  <a:srgbClr val="D6F173"/>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68D75327-D877-4F79-96FD-CE452E49327B}"/>
              </a:ext>
            </a:extLst>
          </p:cNvPr>
          <p:cNvSpPr>
            <a:spLocks xmlns:a="http://schemas.openxmlformats.org/drawingml/2006/main" noGrp="1"/>
          </p:cNvSpPr>
          <p:nvPr/>
        </p:nvSpPr>
        <p:spPr>
          <a:xfrm xmlns:a="http://schemas.openxmlformats.org/drawingml/2006/main">
            <a:off x="609600" y="2314575"/>
            <a:ext cx="5334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6000" b="1">
                <a:solidFill>
                  <a:srgbClr val="D6F173"/>
                </a:solidFill>
                <a:latin typeface="Arial"/>
                <a:ea typeface="Arial"/>
                <a:cs typeface="Arial"/>
              </a:defRPr>
            </a:defPPr>
          </a:lstStyle>
          <a:p xmlns:a="http://schemas.openxmlformats.org/drawingml/2006/main">
            <a:pPr>
              <a:defRPr sz="6000" b="1">
                <a:solidFill>
                  <a:srgbClr val="D6F173"/>
                </a:solidFill>
                <a:latin typeface="Arial"/>
                <a:ea typeface="Arial"/>
                <a:cs typeface="Arial"/>
              </a:defRPr>
            </a:pPr>
            <a:r>
              <a:rPr sz="6000" b="1">
                <a:solidFill>
                  <a:srgbClr val="D6F173"/>
                </a:solidFill>
                <a:latin typeface="Arial"/>
                <a:ea typeface="Arial"/>
                <a:cs typeface="Arial"/>
              </a:rPr>
              <a:t>82,2%</a:t>
            </a:r>
          </a:p>
        </p:txBody>
      </p:sp>
      <p:sp>
        <p:nvSpPr>
          <p:cNvPr id="6" name="">
            <a:extLst xmlns:a="http://schemas.openxmlformats.org/drawingml/2006/main">
              <a:ext uri="{FF2B5EF4-FFF2-40B4-BE49-F238E27FC236}">
                <a16:creationId xmlns:a16="http://schemas.microsoft.com/office/drawing/2014/main" id="{9C404641-7412-4ED5-B371-CA969B0F1A5F}"/>
              </a:ext>
            </a:extLst>
          </p:cNvPr>
          <p:cNvSpPr>
            <a:spLocks xmlns:a="http://schemas.openxmlformats.org/drawingml/2006/main" noGrp="1"/>
          </p:cNvSpPr>
          <p:nvPr/>
        </p:nvSpPr>
        <p:spPr>
          <a:xfrm xmlns:a="http://schemas.openxmlformats.org/drawingml/2006/main">
            <a:off x="647700" y="3495675"/>
            <a:ext cx="4572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FFFFFF"/>
                </a:solidFill>
                <a:latin typeface="Arial"/>
                <a:ea typeface="Arial"/>
                <a:cs typeface="Arial"/>
              </a:defRPr>
            </a:defPPr>
          </a:lstStyle>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do tempo previsto foi capturado em junho</a:t>
            </a:r>
          </a:p>
        </p:txBody>
      </p:sp>
      <p:sp>
        <p:nvSpPr>
          <p:cNvPr id="7" name="">
            <a:extLst xmlns:a="http://schemas.openxmlformats.org/drawingml/2006/main">
              <a:ext uri="{FF2B5EF4-FFF2-40B4-BE49-F238E27FC236}">
                <a16:creationId xmlns:a16="http://schemas.microsoft.com/office/drawing/2014/main" id="{89B2118D-A667-495D-9BC9-87CE289D2E87}"/>
              </a:ext>
            </a:extLst>
          </p:cNvPr>
          <p:cNvSpPr>
            <a:spLocks xmlns:a="http://schemas.openxmlformats.org/drawingml/2006/main" noGrp="1"/>
          </p:cNvSpPr>
          <p:nvPr/>
        </p:nvSpPr>
        <p:spPr>
          <a:xfrm xmlns:a="http://schemas.openxmlformats.org/drawingml/2006/main">
            <a:off x="6638925" y="2314575"/>
            <a:ext cx="4667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6000" b="1">
                <a:solidFill>
                  <a:srgbClr val="D6F173"/>
                </a:solidFill>
                <a:latin typeface="Arial"/>
                <a:ea typeface="Arial"/>
                <a:cs typeface="Arial"/>
              </a:defRPr>
            </a:defPPr>
          </a:lstStyle>
          <a:p xmlns:a="http://schemas.openxmlformats.org/drawingml/2006/main">
            <a:pPr>
              <a:defRPr sz="6000" b="1">
                <a:solidFill>
                  <a:srgbClr val="D6F173"/>
                </a:solidFill>
                <a:latin typeface="Arial"/>
                <a:ea typeface="Arial"/>
                <a:cs typeface="Arial"/>
              </a:defRPr>
            </a:pPr>
            <a:r>
              <a:rPr sz="6000" b="1">
                <a:solidFill>
                  <a:srgbClr val="D6F173"/>
                </a:solidFill>
                <a:latin typeface="Arial"/>
                <a:ea typeface="Arial"/>
                <a:cs typeface="Arial"/>
              </a:rPr>
              <a:t>68,3%</a:t>
            </a:r>
          </a:p>
        </p:txBody>
      </p:sp>
      <p:sp>
        <p:nvSpPr>
          <p:cNvPr id="8" name="">
            <a:extLst xmlns:a="http://schemas.openxmlformats.org/drawingml/2006/main">
              <a:ext uri="{FF2B5EF4-FFF2-40B4-BE49-F238E27FC236}">
                <a16:creationId xmlns:a16="http://schemas.microsoft.com/office/drawing/2014/main" id="{24A80470-6EBB-4CC6-9130-3700983509E7}"/>
              </a:ext>
            </a:extLst>
          </p:cNvPr>
          <p:cNvSpPr>
            <a:spLocks xmlns:a="http://schemas.openxmlformats.org/drawingml/2006/main" noGrp="1"/>
          </p:cNvSpPr>
          <p:nvPr/>
        </p:nvSpPr>
        <p:spPr>
          <a:xfrm xmlns:a="http://schemas.openxmlformats.org/drawingml/2006/main">
            <a:off x="6677025" y="3495675"/>
            <a:ext cx="4572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FFFFFF"/>
                </a:solidFill>
                <a:latin typeface="Arial"/>
                <a:ea typeface="Arial"/>
                <a:cs typeface="Arial"/>
              </a:defRPr>
            </a:defPPr>
          </a:lstStyle>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do tempo capturado foi classificado</a:t>
            </a:r>
          </a:p>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como atividade produtiva simulada</a:t>
            </a:r>
          </a:p>
        </p:txBody>
      </p:sp>
      <p:sp>
        <p:nvSpPr>
          <p:cNvPr id="9" name="">
            <a:extLst xmlns:a="http://schemas.openxmlformats.org/drawingml/2006/main">
              <a:ext uri="{FF2B5EF4-FFF2-40B4-BE49-F238E27FC236}">
                <a16:creationId xmlns:a16="http://schemas.microsoft.com/office/drawing/2014/main" id="{234FEAAE-16DC-491A-95A5-84F505579D66}"/>
              </a:ext>
            </a:extLst>
          </p:cNvPr>
          <p:cNvSpPr>
            <a:spLocks xmlns:a="http://schemas.openxmlformats.org/drawingml/2006/main" noGrp="1"/>
          </p:cNvSpPr>
          <p:nvPr/>
        </p:nvSpPr>
        <p:spPr>
          <a:xfrm xmlns:a="http://schemas.openxmlformats.org/drawingml/2006/main">
            <a:off x="647700" y="5219700"/>
            <a:ext cx="10763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D0DCDE"/>
                </a:solidFill>
                <a:latin typeface="Arial"/>
                <a:ea typeface="Arial"/>
                <a:cs typeface="Arial"/>
              </a:defRPr>
            </a:defPPr>
          </a:lstStyle>
          <a:p xmlns:a="http://schemas.openxmlformats.org/drawingml/2006/main">
            <a:pPr>
              <a:defRPr sz="1875" b="0">
                <a:solidFill>
                  <a:srgbClr val="D0DCDE"/>
                </a:solidFill>
                <a:latin typeface="Arial"/>
                <a:ea typeface="Arial"/>
                <a:cs typeface="Arial"/>
              </a:defRPr>
            </a:pPr>
            <a:r>
              <a:rPr sz="1875" b="0">
                <a:solidFill>
                  <a:srgbClr val="D0DCDE"/>
                </a:solidFill>
                <a:latin typeface="Arial"/>
                <a:ea typeface="Arial"/>
                <a:cs typeface="Arial"/>
              </a:rPr>
              <a:t>Próxima decisão: investigar lacunas de coleta antes de comparar áreas.</a:t>
            </a:r>
          </a:p>
          <a:p xmlns:a="http://schemas.openxmlformats.org/drawingml/2006/main">
            <a:pPr>
              <a:defRPr sz="1875" b="0">
                <a:solidFill>
                  <a:srgbClr val="D0DCDE"/>
                </a:solidFill>
                <a:latin typeface="Arial"/>
                <a:ea typeface="Arial"/>
                <a:cs typeface="Arial"/>
              </a:defRPr>
            </a:pPr>
            <a:r>
              <a:rPr sz="1875" b="0">
                <a:solidFill>
                  <a:srgbClr val="D0DCDE"/>
                </a:solidFill>
                <a:latin typeface="Arial"/>
                <a:ea typeface="Arial"/>
                <a:cs typeface="Arial"/>
              </a:rPr>
              <a:t>Essas razões não sustentam rankings ou decisões sobre indivíduos.</a:t>
            </a:r>
          </a:p>
        </p:txBody>
      </p:sp>
    </p:spTree>
    <p:extLst>
      <p:ext uri="{BB962C8B-B14F-4D97-AF65-F5344CB8AC3E}">
        <p14:creationId xmlns:p14="http://schemas.microsoft.com/office/powerpoint/2010/main" val="1309696986"/>
      </p:ext>
    </p:extLst>
  </p:cSld>
</p:sld>
</file>

<file path=ppt/slides/slide7.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E3ED5CC-4F59-4AF7-96E0-746A1A06A2A1}"/>
              </a:ext>
            </a:extLst>
          </p:cNvPr>
          <p:cNvSpPr>
            <a:spLocks xmlns:a="http://schemas.openxmlformats.org/drawingml/2006/main" noGrp="1"/>
          </p:cNvSpPr>
          <p:nvPr/>
        </p:nvSpPr>
        <p:spPr>
          <a:xfrm xmlns:a="http://schemas.openxmlformats.org/drawingml/2006/main">
            <a:off x="609600" y="3619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1">
                <a:solidFill>
                  <a:srgbClr val="157868"/>
                </a:solidFill>
                <a:latin typeface="Arial"/>
                <a:ea typeface="Arial"/>
                <a:cs typeface="Arial"/>
              </a:defRPr>
            </a:defPPr>
          </a:lstStyle>
          <a:p xmlns:a="http://schemas.openxmlformats.org/drawingml/2006/main">
            <a:pPr>
              <a:defRPr sz="1200" b="1">
                <a:solidFill>
                  <a:srgbClr val="157868"/>
                </a:solidFill>
                <a:latin typeface="Arial"/>
                <a:ea typeface="Arial"/>
                <a:cs typeface="Arial"/>
              </a:defRPr>
            </a:pPr>
            <a:r>
              <a:rPr sz="1200" b="1">
                <a:solidFill>
                  <a:srgbClr val="157868"/>
                </a:solidFill>
                <a:latin typeface="Arial"/>
                <a:ea typeface="Arial"/>
                <a:cs typeface="Arial"/>
              </a:rPr>
              <a:t>PARA A ENTREVISTA</a:t>
            </a:r>
          </a:p>
        </p:txBody>
      </p:sp>
      <p:sp>
        <p:nvSpPr>
          <p:cNvPr id="2" name="">
            <a:extLst xmlns:a="http://schemas.openxmlformats.org/drawingml/2006/main">
              <a:ext uri="{FF2B5EF4-FFF2-40B4-BE49-F238E27FC236}">
                <a16:creationId xmlns:a16="http://schemas.microsoft.com/office/drawing/2014/main" id="{58E34F2D-2F6A-4388-8A7F-C1E0B1F991FB}"/>
              </a:ext>
            </a:extLst>
          </p:cNvPr>
          <p:cNvSpPr>
            <a:spLocks xmlns:a="http://schemas.openxmlformats.org/drawingml/2006/main" noGrp="1"/>
          </p:cNvSpPr>
          <p:nvPr/>
        </p:nvSpPr>
        <p:spPr>
          <a:xfrm xmlns:a="http://schemas.openxmlformats.org/drawingml/2006/main">
            <a:off x="609600" y="914400"/>
            <a:ext cx="10858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450" b="1">
                <a:solidFill>
                  <a:srgbClr val="112F3A"/>
                </a:solidFill>
                <a:latin typeface="Arial"/>
                <a:ea typeface="Arial"/>
                <a:cs typeface="Arial"/>
              </a:defRPr>
            </a:defPPr>
          </a:lstStyle>
          <a:p xmlns:a="http://schemas.openxmlformats.org/drawingml/2006/main">
            <a:pPr>
              <a:defRPr sz="3450" b="1">
                <a:solidFill>
                  <a:srgbClr val="112F3A"/>
                </a:solidFill>
                <a:latin typeface="Arial"/>
                <a:ea typeface="Arial"/>
                <a:cs typeface="Arial"/>
              </a:defRPr>
            </a:pPr>
            <a:r>
              <a:rPr sz="3450" b="1">
                <a:solidFill>
                  <a:srgbClr val="112F3A"/>
                </a:solidFill>
                <a:latin typeface="Arial"/>
                <a:ea typeface="Arial"/>
                <a:cs typeface="Arial"/>
              </a:rPr>
              <a:t>Evidências e limites do case</a:t>
            </a:r>
          </a:p>
        </p:txBody>
      </p:sp>
      <p:sp>
        <p:nvSpPr>
          <p:cNvPr id="3" name="">
            <a:extLst xmlns:a="http://schemas.openxmlformats.org/drawingml/2006/main">
              <a:ext uri="{FF2B5EF4-FFF2-40B4-BE49-F238E27FC236}">
                <a16:creationId xmlns:a16="http://schemas.microsoft.com/office/drawing/2014/main" id="{797433B6-68D4-4F6F-8ED8-2632B82C17F1}"/>
              </a:ext>
            </a:extLst>
          </p:cNvPr>
          <p:cNvSpPr>
            <a:spLocks xmlns:a="http://schemas.openxmlformats.org/drawingml/2006/main" noGrp="1"/>
          </p:cNvSpPr>
          <p:nvPr/>
        </p:nvSpPr>
        <p:spPr>
          <a:xfrm xmlns:a="http://schemas.openxmlformats.org/drawingml/2006/main">
            <a:off x="609600" y="63817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2656A"/>
                </a:solidFill>
                <a:latin typeface="Arial"/>
                <a:ea typeface="Arial"/>
                <a:cs typeface="Arial"/>
              </a:defRPr>
            </a:defPPr>
          </a:lstStyle>
          <a:p xmlns:a="http://schemas.openxmlformats.org/drawingml/2006/main">
            <a:pPr>
              <a:defRPr sz="975" b="0">
                <a:solidFill>
                  <a:srgbClr val="52656A"/>
                </a:solidFill>
                <a:latin typeface="Arial"/>
                <a:ea typeface="Arial"/>
                <a:cs typeface="Arial"/>
              </a:defRPr>
            </a:pPr>
            <a:r>
              <a:rPr sz="975" b="0">
                <a:solidFill>
                  <a:srgbClr val="52656A"/>
                </a:solidFill>
                <a:latin typeface="Arial"/>
                <a:ea typeface="Arial"/>
                <a:cs typeface="Arial"/>
              </a:rPr>
              <a:t>PRODUTIVIDADE  /  DADOS 100% SINTÉTICOS  /  JAN–JUN 2025</a:t>
            </a:r>
          </a:p>
        </p:txBody>
      </p:sp>
      <p:sp>
        <p:nvSpPr>
          <p:cNvPr id="4" name="">
            <a:extLst xmlns:a="http://schemas.openxmlformats.org/drawingml/2006/main">
              <a:ext uri="{FF2B5EF4-FFF2-40B4-BE49-F238E27FC236}">
                <a16:creationId xmlns:a16="http://schemas.microsoft.com/office/drawing/2014/main" id="{D5FE847B-60E3-44AA-A08F-0C52F98B1394}"/>
              </a:ext>
            </a:extLst>
          </p:cNvPr>
          <p:cNvSpPr>
            <a:spLocks xmlns:a="http://schemas.openxmlformats.org/drawingml/2006/main" noGrp="1"/>
          </p:cNvSpPr>
          <p:nvPr/>
        </p:nvSpPr>
        <p:spPr>
          <a:xfrm xmlns:a="http://schemas.openxmlformats.org/drawingml/2006/main">
            <a:off x="11049000" y="6353175"/>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57868"/>
                </a:solidFill>
                <a:latin typeface="Arial"/>
                <a:ea typeface="Arial"/>
                <a:cs typeface="Arial"/>
              </a:defRPr>
            </a:defPPr>
          </a:lstStyle>
          <a:p xmlns:a="http://schemas.openxmlformats.org/drawingml/2006/main">
            <a:pPr>
              <a:defRPr sz="1275" b="0">
                <a:solidFill>
                  <a:srgbClr val="157868"/>
                </a:solidFill>
                <a:latin typeface="Arial"/>
                <a:ea typeface="Arial"/>
                <a:cs typeface="Arial"/>
              </a:defRPr>
            </a:pPr>
            <a:r>
              <a:rPr sz="1275" b="0">
                <a:solidFill>
                  <a:srgbClr val="157868"/>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BBC06264-E6BF-44AB-B99C-615118ECA838}"/>
              </a:ext>
            </a:extLst>
          </p:cNvPr>
          <p:cNvSpPr>
            <a:spLocks xmlns:a="http://schemas.openxmlformats.org/drawingml/2006/main" noGrp="1"/>
          </p:cNvSpPr>
          <p:nvPr/>
        </p:nvSpPr>
        <p:spPr>
          <a:xfrm xmlns:a="http://schemas.openxmlformats.org/drawingml/2006/main">
            <a:off x="609600" y="22193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1">
                <a:solidFill>
                  <a:srgbClr val="157868"/>
                </a:solidFill>
                <a:latin typeface="Arial"/>
                <a:ea typeface="Arial"/>
                <a:cs typeface="Arial"/>
              </a:defRPr>
            </a:defPPr>
          </a:lstStyle>
          <a:p xmlns:a="http://schemas.openxmlformats.org/drawingml/2006/main">
            <a:pPr>
              <a:defRPr sz="2325" b="1">
                <a:solidFill>
                  <a:srgbClr val="157868"/>
                </a:solidFill>
                <a:latin typeface="Arial"/>
                <a:ea typeface="Arial"/>
                <a:cs typeface="Arial"/>
              </a:defRPr>
            </a:pPr>
            <a:r>
              <a:rPr sz="2325" b="1">
                <a:solidFill>
                  <a:srgbClr val="157868"/>
                </a:solidFill>
                <a:latin typeface="Arial"/>
                <a:ea typeface="Arial"/>
                <a:cs typeface="Arial"/>
              </a:rPr>
              <a:t>O que demonstrar</a:t>
            </a:r>
          </a:p>
        </p:txBody>
      </p:sp>
      <p:sp>
        <p:nvSpPr>
          <p:cNvPr id="6" name="">
            <a:extLst xmlns:a="http://schemas.openxmlformats.org/drawingml/2006/main">
              <a:ext uri="{FF2B5EF4-FFF2-40B4-BE49-F238E27FC236}">
                <a16:creationId xmlns:a16="http://schemas.microsoft.com/office/drawing/2014/main" id="{3B1DF671-CCC6-4A0A-B409-39150F9D8CF5}"/>
              </a:ext>
            </a:extLst>
          </p:cNvPr>
          <p:cNvSpPr>
            <a:spLocks xmlns:a="http://schemas.openxmlformats.org/drawingml/2006/main" noGrp="1"/>
          </p:cNvSpPr>
          <p:nvPr/>
        </p:nvSpPr>
        <p:spPr>
          <a:xfrm xmlns:a="http://schemas.openxmlformats.org/drawingml/2006/main">
            <a:off x="609600" y="2952750"/>
            <a:ext cx="4857750" cy="2038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12F3A"/>
                </a:solidFill>
                <a:latin typeface="Arial"/>
                <a:ea typeface="Arial"/>
                <a:cs typeface="Arial"/>
              </a:defRPr>
            </a:defPPr>
          </a:lstStyle>
          <a:p xmlns:a="http://schemas.openxmlformats.org/drawingml/2006/main">
            <a:pPr>
              <a:defRPr sz="2175" b="0">
                <a:solidFill>
                  <a:srgbClr val="112F3A"/>
                </a:solidFill>
                <a:latin typeface="Arial"/>
                <a:ea typeface="Arial"/>
                <a:cs typeface="Arial"/>
              </a:defRPr>
            </a:pPr>
            <a:r>
              <a:rPr sz="2175" b="0">
                <a:solidFill>
                  <a:srgbClr val="112F3A"/>
                </a:solidFill>
                <a:latin typeface="Arial"/>
                <a:ea typeface="Arial"/>
                <a:cs typeface="Arial"/>
              </a:rPr>
              <a:t>Repetir o lote sem duplicar</a:t>
            </a:r>
          </a:p>
          <a:p xmlns:a="http://schemas.openxmlformats.org/drawingml/2006/main">
            <a:pPr>
              <a:defRPr sz="2175" b="0">
                <a:solidFill>
                  <a:srgbClr val="112F3A"/>
                </a:solidFill>
                <a:latin typeface="Arial"/>
                <a:ea typeface="Arial"/>
                <a:cs typeface="Arial"/>
              </a:defRPr>
            </a:pPr>
            <a:r>
              <a:rPr sz="2175" b="0">
                <a:solidFill>
                  <a:srgbClr val="112F3A"/>
                </a:solidFill>
                <a:latin typeface="Arial"/>
                <a:ea typeface="Arial"/>
                <a:cs typeface="Arial"/>
              </a:rPr>
              <a:t>Corrigir um mês já carregado</a:t>
            </a:r>
          </a:p>
          <a:p xmlns:a="http://schemas.openxmlformats.org/drawingml/2006/main">
            <a:pPr>
              <a:defRPr sz="2175" b="0">
                <a:solidFill>
                  <a:srgbClr val="112F3A"/>
                </a:solidFill>
                <a:latin typeface="Arial"/>
                <a:ea typeface="Arial"/>
                <a:cs typeface="Arial"/>
              </a:defRPr>
            </a:pPr>
            <a:r>
              <a:rPr sz="2175" b="0">
                <a:solidFill>
                  <a:srgbClr val="112F3A"/>
                </a:solidFill>
                <a:latin typeface="Arial"/>
                <a:ea typeface="Arial"/>
                <a:cs typeface="Arial"/>
              </a:rPr>
              <a:t>Desfazer uma carga com erro</a:t>
            </a:r>
          </a:p>
          <a:p xmlns:a="http://schemas.openxmlformats.org/drawingml/2006/main">
            <a:pPr>
              <a:defRPr sz="2175" b="0">
                <a:solidFill>
                  <a:srgbClr val="112F3A"/>
                </a:solidFill>
                <a:latin typeface="Arial"/>
                <a:ea typeface="Arial"/>
                <a:cs typeface="Arial"/>
              </a:defRPr>
            </a:pPr>
            <a:r>
              <a:rPr sz="2175" b="0">
                <a:solidFill>
                  <a:srgbClr val="112F3A"/>
                </a:solidFill>
                <a:latin typeface="Arial"/>
                <a:ea typeface="Arial"/>
                <a:cs typeface="Arial"/>
              </a:rPr>
              <a:t>Reconciliar headcount e folha</a:t>
            </a:r>
          </a:p>
        </p:txBody>
      </p:sp>
      <p:sp>
        <p:nvSpPr>
          <p:cNvPr id="7" name="">
            <a:extLst xmlns:a="http://schemas.openxmlformats.org/drawingml/2006/main">
              <a:ext uri="{FF2B5EF4-FFF2-40B4-BE49-F238E27FC236}">
                <a16:creationId xmlns:a16="http://schemas.microsoft.com/office/drawing/2014/main" id="{BD3C8556-BBB3-4EDC-9E2E-9C4990CD6B5E}"/>
              </a:ext>
            </a:extLst>
          </p:cNvPr>
          <p:cNvSpPr>
            <a:spLocks xmlns:a="http://schemas.openxmlformats.org/drawingml/2006/main" noGrp="1"/>
          </p:cNvSpPr>
          <p:nvPr/>
        </p:nvSpPr>
        <p:spPr>
          <a:xfrm xmlns:a="http://schemas.openxmlformats.org/drawingml/2006/main">
            <a:off x="6572250" y="22193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1">
                <a:solidFill>
                  <a:srgbClr val="157868"/>
                </a:solidFill>
                <a:latin typeface="Arial"/>
                <a:ea typeface="Arial"/>
                <a:cs typeface="Arial"/>
              </a:defRPr>
            </a:defPPr>
          </a:lstStyle>
          <a:p xmlns:a="http://schemas.openxmlformats.org/drawingml/2006/main">
            <a:pPr>
              <a:defRPr sz="2325" b="1">
                <a:solidFill>
                  <a:srgbClr val="157868"/>
                </a:solidFill>
                <a:latin typeface="Arial"/>
                <a:ea typeface="Arial"/>
                <a:cs typeface="Arial"/>
              </a:defRPr>
            </a:pPr>
            <a:r>
              <a:rPr sz="2325" b="1">
                <a:solidFill>
                  <a:srgbClr val="157868"/>
                </a:solidFill>
                <a:latin typeface="Arial"/>
                <a:ea typeface="Arial"/>
                <a:cs typeface="Arial"/>
              </a:rPr>
              <a:t>O que explicar</a:t>
            </a:r>
          </a:p>
        </p:txBody>
      </p:sp>
      <p:sp>
        <p:nvSpPr>
          <p:cNvPr id="8" name="">
            <a:extLst xmlns:a="http://schemas.openxmlformats.org/drawingml/2006/main">
              <a:ext uri="{FF2B5EF4-FFF2-40B4-BE49-F238E27FC236}">
                <a16:creationId xmlns:a16="http://schemas.microsoft.com/office/drawing/2014/main" id="{E915C56D-CBCA-4F00-9C6E-1930253D6A73}"/>
              </a:ext>
            </a:extLst>
          </p:cNvPr>
          <p:cNvSpPr>
            <a:spLocks xmlns:a="http://schemas.openxmlformats.org/drawingml/2006/main" noGrp="1"/>
          </p:cNvSpPr>
          <p:nvPr/>
        </p:nvSpPr>
        <p:spPr>
          <a:xfrm xmlns:a="http://schemas.openxmlformats.org/drawingml/2006/main">
            <a:off x="6572250" y="2952750"/>
            <a:ext cx="4857750" cy="2038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12F3A"/>
                </a:solidFill>
                <a:latin typeface="Arial"/>
                <a:ea typeface="Arial"/>
                <a:cs typeface="Arial"/>
              </a:defRPr>
            </a:defPPr>
          </a:lstStyle>
          <a:p xmlns:a="http://schemas.openxmlformats.org/drawingml/2006/main">
            <a:pPr>
              <a:defRPr sz="2175" b="0">
                <a:solidFill>
                  <a:srgbClr val="112F3A"/>
                </a:solidFill>
                <a:latin typeface="Arial"/>
                <a:ea typeface="Arial"/>
                <a:cs typeface="Arial"/>
              </a:defRPr>
            </a:pPr>
            <a:r>
              <a:rPr sz="2175" b="0">
                <a:solidFill>
                  <a:srgbClr val="112F3A"/>
                </a:solidFill>
                <a:latin typeface="Arial"/>
                <a:ea typeface="Arial"/>
                <a:cs typeface="Arial"/>
              </a:rPr>
              <a:t>Dados inteiramente fictícios</a:t>
            </a:r>
          </a:p>
          <a:p xmlns:a="http://schemas.openxmlformats.org/drawingml/2006/main">
            <a:pPr>
              <a:defRPr sz="2175" b="0">
                <a:solidFill>
                  <a:srgbClr val="112F3A"/>
                </a:solidFill>
                <a:latin typeface="Arial"/>
                <a:ea typeface="Arial"/>
                <a:cs typeface="Arial"/>
              </a:defRPr>
            </a:pPr>
            <a:r>
              <a:rPr sz="2175" b="0">
                <a:solidFill>
                  <a:srgbClr val="112F3A"/>
                </a:solidFill>
                <a:latin typeface="Arial"/>
                <a:ea typeface="Arial"/>
                <a:cs typeface="Arial"/>
              </a:rPr>
              <a:t>Sem histórico de transferências</a:t>
            </a:r>
          </a:p>
          <a:p xmlns:a="http://schemas.openxmlformats.org/drawingml/2006/main">
            <a:pPr>
              <a:defRPr sz="2175" b="0">
                <a:solidFill>
                  <a:srgbClr val="112F3A"/>
                </a:solidFill>
                <a:latin typeface="Arial"/>
                <a:ea typeface="Arial"/>
                <a:cs typeface="Arial"/>
              </a:defRPr>
            </a:pPr>
            <a:r>
              <a:rPr sz="2175" b="0">
                <a:solidFill>
                  <a:srgbClr val="112F3A"/>
                </a:solidFill>
                <a:latin typeface="Arial"/>
                <a:ea typeface="Arial"/>
                <a:cs typeface="Arial"/>
              </a:rPr>
              <a:t>Sem encargos ou feriados</a:t>
            </a:r>
          </a:p>
          <a:p xmlns:a="http://schemas.openxmlformats.org/drawingml/2006/main">
            <a:pPr>
              <a:defRPr sz="2175" b="0">
                <a:solidFill>
                  <a:srgbClr val="112F3A"/>
                </a:solidFill>
                <a:latin typeface="Arial"/>
                <a:ea typeface="Arial"/>
                <a:cs typeface="Arial"/>
              </a:defRPr>
            </a:pPr>
            <a:r>
              <a:rPr sz="2175" b="0">
                <a:solidFill>
                  <a:srgbClr val="112F3A"/>
                </a:solidFill>
                <a:latin typeface="Arial"/>
                <a:ea typeface="Arial"/>
                <a:cs typeface="Arial"/>
              </a:rPr>
              <a:t>Atividade digital é uma proxy</a:t>
            </a:r>
          </a:p>
        </p:txBody>
      </p:sp>
      <p:sp>
        <p:nvSpPr>
          <p:cNvPr id="9" name="">
            <a:extLst xmlns:a="http://schemas.openxmlformats.org/drawingml/2006/main">
              <a:ext uri="{FF2B5EF4-FFF2-40B4-BE49-F238E27FC236}">
                <a16:creationId xmlns:a16="http://schemas.microsoft.com/office/drawing/2014/main" id="{1DBE9317-A350-492F-A30B-5D901300D451}"/>
              </a:ext>
            </a:extLst>
          </p:cNvPr>
          <p:cNvSpPr>
            <a:spLocks xmlns:a="http://schemas.openxmlformats.org/drawingml/2006/main" noGrp="1"/>
          </p:cNvSpPr>
          <p:nvPr/>
        </p:nvSpPr>
        <p:spPr>
          <a:xfrm xmlns:a="http://schemas.openxmlformats.org/drawingml/2006/main">
            <a:off x="609600" y="5438775"/>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112F3A"/>
                </a:solidFill>
                <a:latin typeface="Arial"/>
                <a:ea typeface="Arial"/>
                <a:cs typeface="Arial"/>
              </a:defRPr>
            </a:defPPr>
          </a:lstStyle>
          <a:p xmlns:a="http://schemas.openxmlformats.org/drawingml/2006/main">
            <a:pPr>
              <a:defRPr sz="2025" b="1">
                <a:solidFill>
                  <a:srgbClr val="112F3A"/>
                </a:solidFill>
                <a:latin typeface="Arial"/>
                <a:ea typeface="Arial"/>
                <a:cs typeface="Arial"/>
              </a:defRPr>
            </a:pPr>
            <a:r>
              <a:rPr sz="2025" b="1">
                <a:solidFill>
                  <a:srgbClr val="112F3A"/>
                </a:solidFill>
                <a:latin typeface="Arial"/>
                <a:ea typeface="Arial"/>
                <a:cs typeface="Arial"/>
              </a:rPr>
              <a:t>Código, consultas, testes e instruções acompanham o repositório.</a:t>
            </a:r>
          </a:p>
        </p:txBody>
      </p:sp>
    </p:spTree>
    <p:extLst>
      <p:ext uri="{BB962C8B-B14F-4D97-AF65-F5344CB8AC3E}">
        <p14:creationId xmlns:p14="http://schemas.microsoft.com/office/powerpoint/2010/main" val="34256322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2026-10-11T02:19:38.4220000Z</dcterms:created>
  <dcterms:modified xsi:type="dcterms:W3CDTF">2026-10-11T02:19:38.4220000Z</dcterms:modified>
</coreProperties>
</file>